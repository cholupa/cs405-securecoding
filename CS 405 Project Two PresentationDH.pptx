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12192000"/>
  <p:notesSz cx="6858000" cy="9144000"/>
  <p:embeddedFontLst>
    <p:embeddedFont>
      <p:font typeface="Century Gothic"/>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2" roundtripDataSignature="AMtx7mgaqj+J167oO9IsWDH/aWEG19R8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189E2AF-0B6F-4CFA-9A2B-FAEA5202A21F}">
  <a:tblStyle styleId="{1189E2AF-0B6F-4CFA-9A2B-FAEA5202A21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CenturyGothic-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CenturyGothic-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CenturyGothic-boldItalic.fntdata"/><Relationship Id="rId30" Type="http://schemas.openxmlformats.org/officeDocument/2006/relationships/font" Target="fonts/CenturyGothic-italic.fntdata"/><Relationship Id="rId11" Type="http://schemas.openxmlformats.org/officeDocument/2006/relationships/slide" Target="slides/slide5.xml"/><Relationship Id="rId10" Type="http://schemas.openxmlformats.org/officeDocument/2006/relationships/slide" Target="slides/slide4.xml"/><Relationship Id="rId32"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716694f9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g3f716694f9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9504e2950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g9504e2950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f721e8e2a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3f721e8e2a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f721e8e2a1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g3f721e8e2a1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f721e8e2a1_0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3f721e8e2a1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f721e8e2a1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g3f721e8e2a1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f721e8e2a1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g3f721e8e2a1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f9a73f85fd_1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g3f9a73f85fd_1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6" name="Google Shape;26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0" name="Google Shape;28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4" name="Google Shape;29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pic>
        <p:nvPicPr>
          <p:cNvPr descr="C0-HD-BTM.png" id="13" name="Google Shape;13;p16"/>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4" name="Google Shape;14;p16"/>
          <p:cNvSpPr txBox="1"/>
          <p:nvPr>
            <p:ph type="ctrTitle"/>
          </p:nvPr>
        </p:nvSpPr>
        <p:spPr>
          <a:xfrm>
            <a:off x="1371600" y="1803405"/>
            <a:ext cx="9448800" cy="182509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6"/>
          <p:cNvSpPr txBox="1"/>
          <p:nvPr>
            <p:ph idx="1" type="subTitle"/>
          </p:nvPr>
        </p:nvSpPr>
        <p:spPr>
          <a:xfrm>
            <a:off x="1371600" y="3632201"/>
            <a:ext cx="9448800" cy="6858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6" name="Google Shape;16;p16"/>
          <p:cNvSpPr txBox="1"/>
          <p:nvPr>
            <p:ph idx="10" type="dt"/>
          </p:nvPr>
        </p:nvSpPr>
        <p:spPr>
          <a:xfrm>
            <a:off x="7909561" y="4314328"/>
            <a:ext cx="2910840" cy="374642"/>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6"/>
          <p:cNvSpPr txBox="1"/>
          <p:nvPr>
            <p:ph idx="11" type="ftr"/>
          </p:nvPr>
        </p:nvSpPr>
        <p:spPr>
          <a:xfrm>
            <a:off x="1371600" y="4323845"/>
            <a:ext cx="6400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2" type="sldNum"/>
          </p:nvPr>
        </p:nvSpPr>
        <p:spPr>
          <a:xfrm>
            <a:off x="8077200" y="1430866"/>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7"/>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7"/>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 name="Google Shape;22;p17"/>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7"/>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7"/>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25" name="Shape 25"/>
        <p:cNvGrpSpPr/>
        <p:nvPr/>
      </p:nvGrpSpPr>
      <p:grpSpPr>
        <a:xfrm>
          <a:off x="0" y="0"/>
          <a:ext cx="0" cy="0"/>
          <a:chOff x="0" y="0"/>
          <a:chExt cx="0" cy="0"/>
        </a:xfrm>
      </p:grpSpPr>
      <p:pic>
        <p:nvPicPr>
          <p:cNvPr descr="C0-HD-BTM.png" id="26" name="Google Shape;26;p18"/>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27" name="Google Shape;27;p18"/>
          <p:cNvSpPr txBox="1"/>
          <p:nvPr>
            <p:ph type="title"/>
          </p:nvPr>
        </p:nvSpPr>
        <p:spPr>
          <a:xfrm>
            <a:off x="685800" y="753533"/>
            <a:ext cx="10820399" cy="2801935"/>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8"/>
          <p:cNvSpPr txBox="1"/>
          <p:nvPr>
            <p:ph idx="1" type="body"/>
          </p:nvPr>
        </p:nvSpPr>
        <p:spPr>
          <a:xfrm>
            <a:off x="1024467" y="3641725"/>
            <a:ext cx="10490200" cy="9556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2200"/>
              <a:buNone/>
              <a:defRPr sz="2200">
                <a:solidFill>
                  <a:schemeClr val="lt1"/>
                </a:solidFill>
              </a:defRPr>
            </a:lvl1pPr>
            <a:lvl2pPr indent="-228600" lvl="1" marL="914400" algn="l">
              <a:lnSpc>
                <a:spcPct val="90000"/>
              </a:lnSpc>
              <a:spcBef>
                <a:spcPts val="500"/>
              </a:spcBef>
              <a:spcAft>
                <a:spcPts val="0"/>
              </a:spcAft>
              <a:buClr>
                <a:schemeClr val="lt1"/>
              </a:buClr>
              <a:buSzPts val="2000"/>
              <a:buNone/>
              <a:defRPr sz="2000">
                <a:solidFill>
                  <a:schemeClr val="lt1"/>
                </a:solidFill>
              </a:defRPr>
            </a:lvl2pPr>
            <a:lvl3pPr indent="-228600" lvl="2" marL="1371600" algn="l">
              <a:lnSpc>
                <a:spcPct val="90000"/>
              </a:lnSpc>
              <a:spcBef>
                <a:spcPts val="500"/>
              </a:spcBef>
              <a:spcAft>
                <a:spcPts val="0"/>
              </a:spcAft>
              <a:buClr>
                <a:schemeClr val="lt1"/>
              </a:buClr>
              <a:buSzPts val="1800"/>
              <a:buNone/>
              <a:defRPr sz="1800">
                <a:solidFill>
                  <a:schemeClr val="lt1"/>
                </a:solidFill>
              </a:defRPr>
            </a:lvl3pPr>
            <a:lvl4pPr indent="-228600" lvl="3" marL="1828800" algn="l">
              <a:lnSpc>
                <a:spcPct val="90000"/>
              </a:lnSpc>
              <a:spcBef>
                <a:spcPts val="500"/>
              </a:spcBef>
              <a:spcAft>
                <a:spcPts val="0"/>
              </a:spcAft>
              <a:buClr>
                <a:schemeClr val="lt1"/>
              </a:buClr>
              <a:buSzPts val="1600"/>
              <a:buNone/>
              <a:defRPr sz="1600">
                <a:solidFill>
                  <a:schemeClr val="lt1"/>
                </a:solidFill>
              </a:defRPr>
            </a:lvl4pPr>
            <a:lvl5pPr indent="-228600" lvl="4" marL="2286000" algn="l">
              <a:lnSpc>
                <a:spcPct val="90000"/>
              </a:lnSpc>
              <a:spcBef>
                <a:spcPts val="500"/>
              </a:spcBef>
              <a:spcAft>
                <a:spcPts val="0"/>
              </a:spcAft>
              <a:buClr>
                <a:schemeClr val="lt1"/>
              </a:buClr>
              <a:buSzPts val="1600"/>
              <a:buNone/>
              <a:defRPr sz="1600">
                <a:solidFill>
                  <a:schemeClr val="lt1"/>
                </a:solidFill>
              </a:defRPr>
            </a:lvl5pPr>
            <a:lvl6pPr indent="-228600" lvl="5" marL="2743200" algn="l">
              <a:lnSpc>
                <a:spcPct val="90000"/>
              </a:lnSpc>
              <a:spcBef>
                <a:spcPts val="500"/>
              </a:spcBef>
              <a:spcAft>
                <a:spcPts val="0"/>
              </a:spcAft>
              <a:buClr>
                <a:schemeClr val="lt1"/>
              </a:buClr>
              <a:buSzPts val="1600"/>
              <a:buNone/>
              <a:defRPr sz="1600">
                <a:solidFill>
                  <a:schemeClr val="lt1"/>
                </a:solidFill>
              </a:defRPr>
            </a:lvl6pPr>
            <a:lvl7pPr indent="-228600" lvl="6" marL="3200400" algn="l">
              <a:lnSpc>
                <a:spcPct val="90000"/>
              </a:lnSpc>
              <a:spcBef>
                <a:spcPts val="500"/>
              </a:spcBef>
              <a:spcAft>
                <a:spcPts val="0"/>
              </a:spcAft>
              <a:buClr>
                <a:schemeClr val="lt1"/>
              </a:buClr>
              <a:buSzPts val="1600"/>
              <a:buNone/>
              <a:defRPr sz="1600">
                <a:solidFill>
                  <a:schemeClr val="lt1"/>
                </a:solidFill>
              </a:defRPr>
            </a:lvl7pPr>
            <a:lvl8pPr indent="-228600" lvl="7" marL="3657600" algn="l">
              <a:lnSpc>
                <a:spcPct val="90000"/>
              </a:lnSpc>
              <a:spcBef>
                <a:spcPts val="500"/>
              </a:spcBef>
              <a:spcAft>
                <a:spcPts val="0"/>
              </a:spcAft>
              <a:buClr>
                <a:schemeClr val="lt1"/>
              </a:buClr>
              <a:buSzPts val="1600"/>
              <a:buNone/>
              <a:defRPr sz="1600">
                <a:solidFill>
                  <a:schemeClr val="lt1"/>
                </a:solidFill>
              </a:defRPr>
            </a:lvl8pPr>
            <a:lvl9pPr indent="-228600" lvl="8" marL="4114800" algn="l">
              <a:lnSpc>
                <a:spcPct val="90000"/>
              </a:lnSpc>
              <a:spcBef>
                <a:spcPts val="500"/>
              </a:spcBef>
              <a:spcAft>
                <a:spcPts val="0"/>
              </a:spcAft>
              <a:buClr>
                <a:schemeClr val="lt1"/>
              </a:buClr>
              <a:buSzPts val="1600"/>
              <a:buNone/>
              <a:defRPr sz="1600">
                <a:solidFill>
                  <a:schemeClr val="lt1"/>
                </a:solidFill>
              </a:defRPr>
            </a:lvl9pPr>
          </a:lstStyle>
          <a:p/>
        </p:txBody>
      </p:sp>
      <p:sp>
        <p:nvSpPr>
          <p:cNvPr id="29" name="Google Shape;29;p18"/>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8"/>
          <p:cNvSpPr txBox="1"/>
          <p:nvPr>
            <p:ph idx="11" type="ftr"/>
          </p:nvPr>
        </p:nvSpPr>
        <p:spPr>
          <a:xfrm>
            <a:off x="685800" y="381001"/>
            <a:ext cx="6991492" cy="36406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8"/>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19"/>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9"/>
          <p:cNvSpPr txBox="1"/>
          <p:nvPr>
            <p:ph idx="1" type="body"/>
          </p:nvPr>
        </p:nvSpPr>
        <p:spPr>
          <a:xfrm>
            <a:off x="6858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5" name="Google Shape;35;p19"/>
          <p:cNvSpPr txBox="1"/>
          <p:nvPr>
            <p:ph idx="2" type="body"/>
          </p:nvPr>
        </p:nvSpPr>
        <p:spPr>
          <a:xfrm>
            <a:off x="61722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6" name="Google Shape;36;p19"/>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9"/>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9"/>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9" name="Shape 39"/>
        <p:cNvGrpSpPr/>
        <p:nvPr/>
      </p:nvGrpSpPr>
      <p:grpSpPr>
        <a:xfrm>
          <a:off x="0" y="0"/>
          <a:ext cx="0" cy="0"/>
          <a:chOff x="0" y="0"/>
          <a:chExt cx="0" cy="0"/>
        </a:xfrm>
      </p:grpSpPr>
      <p:sp>
        <p:nvSpPr>
          <p:cNvPr id="40" name="Google Shape;40;p20"/>
          <p:cNvSpPr txBox="1"/>
          <p:nvPr>
            <p:ph type="title"/>
          </p:nvPr>
        </p:nvSpPr>
        <p:spPr>
          <a:xfrm>
            <a:off x="2895600" y="762000"/>
            <a:ext cx="8610600"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0"/>
          <p:cNvSpPr txBox="1"/>
          <p:nvPr>
            <p:ph idx="1" type="body"/>
          </p:nvPr>
        </p:nvSpPr>
        <p:spPr>
          <a:xfrm>
            <a:off x="914409" y="2183802"/>
            <a:ext cx="50799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2" name="Google Shape;42;p20"/>
          <p:cNvSpPr txBox="1"/>
          <p:nvPr>
            <p:ph idx="2" type="body"/>
          </p:nvPr>
        </p:nvSpPr>
        <p:spPr>
          <a:xfrm>
            <a:off x="685800" y="3132666"/>
            <a:ext cx="5311775"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3" name="Google Shape;43;p20"/>
          <p:cNvSpPr txBox="1"/>
          <p:nvPr>
            <p:ph idx="3" type="body"/>
          </p:nvPr>
        </p:nvSpPr>
        <p:spPr>
          <a:xfrm>
            <a:off x="6400800" y="2183802"/>
            <a:ext cx="51054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4" name="Google Shape;44;p20"/>
          <p:cNvSpPr txBox="1"/>
          <p:nvPr>
            <p:ph idx="4" type="body"/>
          </p:nvPr>
        </p:nvSpPr>
        <p:spPr>
          <a:xfrm>
            <a:off x="6172200" y="3132666"/>
            <a:ext cx="5334000"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5" name="Google Shape;45;p20"/>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0"/>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0"/>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2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1"/>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22"/>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2"/>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23"/>
          <p:cNvSpPr txBox="1"/>
          <p:nvPr>
            <p:ph type="title"/>
          </p:nvPr>
        </p:nvSpPr>
        <p:spPr>
          <a:xfrm>
            <a:off x="685800" y="1524000"/>
            <a:ext cx="41148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3"/>
          <p:cNvSpPr txBox="1"/>
          <p:nvPr>
            <p:ph idx="1" type="body"/>
          </p:nvPr>
        </p:nvSpPr>
        <p:spPr>
          <a:xfrm>
            <a:off x="4995582" y="746759"/>
            <a:ext cx="6510618" cy="5471925"/>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0" name="Google Shape;60;p23"/>
          <p:cNvSpPr txBox="1"/>
          <p:nvPr>
            <p:ph idx="2" type="body"/>
          </p:nvPr>
        </p:nvSpPr>
        <p:spPr>
          <a:xfrm>
            <a:off x="685800" y="3124199"/>
            <a:ext cx="411480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1" name="Google Shape;61;p23"/>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3"/>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24"/>
          <p:cNvSpPr txBox="1"/>
          <p:nvPr>
            <p:ph type="title"/>
          </p:nvPr>
        </p:nvSpPr>
        <p:spPr>
          <a:xfrm>
            <a:off x="685800" y="1524000"/>
            <a:ext cx="687324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4"/>
          <p:cNvSpPr/>
          <p:nvPr>
            <p:ph idx="2" type="pic"/>
          </p:nvPr>
        </p:nvSpPr>
        <p:spPr>
          <a:xfrm>
            <a:off x="7861238" y="751241"/>
            <a:ext cx="3644962" cy="5467443"/>
          </a:xfrm>
          <a:prstGeom prst="rect">
            <a:avLst/>
          </a:prstGeom>
          <a:noFill/>
          <a:ln>
            <a:noFill/>
          </a:ln>
        </p:spPr>
      </p:sp>
      <p:sp>
        <p:nvSpPr>
          <p:cNvPr id="67" name="Google Shape;67;p24"/>
          <p:cNvSpPr txBox="1"/>
          <p:nvPr>
            <p:ph idx="1" type="body"/>
          </p:nvPr>
        </p:nvSpPr>
        <p:spPr>
          <a:xfrm>
            <a:off x="685800" y="3124199"/>
            <a:ext cx="687324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8" name="Google Shape;68;p24"/>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4"/>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1" name="Shape 71"/>
        <p:cNvGrpSpPr/>
        <p:nvPr/>
      </p:nvGrpSpPr>
      <p:grpSpPr>
        <a:xfrm>
          <a:off x="0" y="0"/>
          <a:ext cx="0" cy="0"/>
          <a:chOff x="0" y="0"/>
          <a:chExt cx="0" cy="0"/>
        </a:xfrm>
      </p:grpSpPr>
      <p:sp>
        <p:nvSpPr>
          <p:cNvPr id="72" name="Google Shape;72;p25"/>
          <p:cNvSpPr txBox="1"/>
          <p:nvPr>
            <p:ph type="title"/>
          </p:nvPr>
        </p:nvSpPr>
        <p:spPr>
          <a:xfrm>
            <a:off x="685777" y="4697360"/>
            <a:ext cx="10822034" cy="81935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5"/>
          <p:cNvSpPr/>
          <p:nvPr>
            <p:ph idx="2" type="pic"/>
          </p:nvPr>
        </p:nvSpPr>
        <p:spPr>
          <a:xfrm>
            <a:off x="681727" y="941439"/>
            <a:ext cx="10821840" cy="3478161"/>
          </a:xfrm>
          <a:prstGeom prst="rect">
            <a:avLst/>
          </a:prstGeom>
          <a:noFill/>
          <a:ln>
            <a:noFill/>
          </a:ln>
        </p:spPr>
      </p:sp>
      <p:sp>
        <p:nvSpPr>
          <p:cNvPr id="74" name="Google Shape;74;p25"/>
          <p:cNvSpPr txBox="1"/>
          <p:nvPr>
            <p:ph idx="1" type="body"/>
          </p:nvPr>
        </p:nvSpPr>
        <p:spPr>
          <a:xfrm>
            <a:off x="685800" y="5516715"/>
            <a:ext cx="10820400" cy="70196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75" name="Google Shape;75;p25"/>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showMasterSp="0">
  <p:cSld name="Title and Caption">
    <p:spTree>
      <p:nvGrpSpPr>
        <p:cNvPr id="78" name="Shape 78"/>
        <p:cNvGrpSpPr/>
        <p:nvPr/>
      </p:nvGrpSpPr>
      <p:grpSpPr>
        <a:xfrm>
          <a:off x="0" y="0"/>
          <a:ext cx="0" cy="0"/>
          <a:chOff x="0" y="0"/>
          <a:chExt cx="0" cy="0"/>
        </a:xfrm>
      </p:grpSpPr>
      <p:pic>
        <p:nvPicPr>
          <p:cNvPr descr="C0-HD-BTM.png" id="79" name="Google Shape;79;p26"/>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0" name="Google Shape;80;p26"/>
          <p:cNvSpPr txBox="1"/>
          <p:nvPr>
            <p:ph type="title"/>
          </p:nvPr>
        </p:nvSpPr>
        <p:spPr>
          <a:xfrm>
            <a:off x="685800" y="753532"/>
            <a:ext cx="10820400" cy="280246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26"/>
          <p:cNvSpPr txBox="1"/>
          <p:nvPr>
            <p:ph idx="1" type="body"/>
          </p:nvPr>
        </p:nvSpPr>
        <p:spPr>
          <a:xfrm>
            <a:off x="1024467" y="3649133"/>
            <a:ext cx="10130516" cy="999067"/>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2" name="Google Shape;82;p26"/>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6"/>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6"/>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showMasterSp="0">
  <p:cSld name="Quote with Caption">
    <p:spTree>
      <p:nvGrpSpPr>
        <p:cNvPr id="85" name="Shape 85"/>
        <p:cNvGrpSpPr/>
        <p:nvPr/>
      </p:nvGrpSpPr>
      <p:grpSpPr>
        <a:xfrm>
          <a:off x="0" y="0"/>
          <a:ext cx="0" cy="0"/>
          <a:chOff x="0" y="0"/>
          <a:chExt cx="0" cy="0"/>
        </a:xfrm>
      </p:grpSpPr>
      <p:pic>
        <p:nvPicPr>
          <p:cNvPr descr="C0-HD-BTM.png" id="86" name="Google Shape;86;p27"/>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7" name="Google Shape;87;p27"/>
          <p:cNvSpPr txBox="1"/>
          <p:nvPr>
            <p:ph type="title"/>
          </p:nvPr>
        </p:nvSpPr>
        <p:spPr>
          <a:xfrm>
            <a:off x="1024467" y="753533"/>
            <a:ext cx="10151533" cy="260449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7"/>
          <p:cNvSpPr txBox="1"/>
          <p:nvPr>
            <p:ph idx="1" type="body"/>
          </p:nvPr>
        </p:nvSpPr>
        <p:spPr>
          <a:xfrm>
            <a:off x="1303865" y="3365556"/>
            <a:ext cx="9592736" cy="4444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9" name="Google Shape;89;p27"/>
          <p:cNvSpPr txBox="1"/>
          <p:nvPr>
            <p:ph idx="2" type="body"/>
          </p:nvPr>
        </p:nvSpPr>
        <p:spPr>
          <a:xfrm>
            <a:off x="1024467" y="3959862"/>
            <a:ext cx="10151533" cy="679871"/>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0" name="Google Shape;90;p27"/>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27"/>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7"/>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8000"/>
              <a:buFont typeface="Century Gothic"/>
              <a:buNone/>
            </a:pPr>
            <a:r>
              <a:rPr b="0" i="0" lang="en-US" sz="80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entury Gothic"/>
              <a:buNone/>
            </a:pPr>
            <a:r>
              <a:rPr b="0" i="0" lang="en-US" sz="80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showMasterSp="0">
  <p:cSld name="Name Card">
    <p:spTree>
      <p:nvGrpSpPr>
        <p:cNvPr id="95" name="Shape 95"/>
        <p:cNvGrpSpPr/>
        <p:nvPr/>
      </p:nvGrpSpPr>
      <p:grpSpPr>
        <a:xfrm>
          <a:off x="0" y="0"/>
          <a:ext cx="0" cy="0"/>
          <a:chOff x="0" y="0"/>
          <a:chExt cx="0" cy="0"/>
        </a:xfrm>
      </p:grpSpPr>
      <p:pic>
        <p:nvPicPr>
          <p:cNvPr descr="C0-HD-BTM.png" id="96" name="Google Shape;96;p28"/>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97" name="Google Shape;97;p28"/>
          <p:cNvSpPr txBox="1"/>
          <p:nvPr>
            <p:ph type="title"/>
          </p:nvPr>
        </p:nvSpPr>
        <p:spPr>
          <a:xfrm>
            <a:off x="1024495" y="1124701"/>
            <a:ext cx="10146186" cy="25118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8"/>
          <p:cNvSpPr txBox="1"/>
          <p:nvPr>
            <p:ph idx="1" type="body"/>
          </p:nvPr>
        </p:nvSpPr>
        <p:spPr>
          <a:xfrm>
            <a:off x="1024467" y="3648315"/>
            <a:ext cx="10144654" cy="9998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9" name="Google Shape;99;p28"/>
          <p:cNvSpPr txBox="1"/>
          <p:nvPr>
            <p:ph idx="10" type="dt"/>
          </p:nvPr>
        </p:nvSpPr>
        <p:spPr>
          <a:xfrm>
            <a:off x="7814452" y="378883"/>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28"/>
          <p:cNvSpPr txBox="1"/>
          <p:nvPr>
            <p:ph idx="11" type="ftr"/>
          </p:nvPr>
        </p:nvSpPr>
        <p:spPr>
          <a:xfrm>
            <a:off x="685800" y="378883"/>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28"/>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2" name="Shape 102"/>
        <p:cNvGrpSpPr/>
        <p:nvPr/>
      </p:nvGrpSpPr>
      <p:grpSpPr>
        <a:xfrm>
          <a:off x="0" y="0"/>
          <a:ext cx="0" cy="0"/>
          <a:chOff x="0" y="0"/>
          <a:chExt cx="0" cy="0"/>
        </a:xfrm>
      </p:grpSpPr>
      <p:sp>
        <p:nvSpPr>
          <p:cNvPr id="103" name="Google Shape;103;p29"/>
          <p:cNvSpPr txBox="1"/>
          <p:nvPr>
            <p:ph type="title"/>
          </p:nvPr>
        </p:nvSpPr>
        <p:spPr>
          <a:xfrm>
            <a:off x="2895600" y="761999"/>
            <a:ext cx="8610599" cy="1303867"/>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9"/>
          <p:cNvSpPr txBox="1"/>
          <p:nvPr>
            <p:ph idx="1" type="body"/>
          </p:nvPr>
        </p:nvSpPr>
        <p:spPr>
          <a:xfrm>
            <a:off x="685800" y="2202080"/>
            <a:ext cx="3456432" cy="61732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5" name="Google Shape;105;p29"/>
          <p:cNvSpPr txBox="1"/>
          <p:nvPr>
            <p:ph idx="2" type="body"/>
          </p:nvPr>
        </p:nvSpPr>
        <p:spPr>
          <a:xfrm>
            <a:off x="685799"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6" name="Google Shape;106;p29"/>
          <p:cNvSpPr txBox="1"/>
          <p:nvPr>
            <p:ph idx="3" type="body"/>
          </p:nvPr>
        </p:nvSpPr>
        <p:spPr>
          <a:xfrm>
            <a:off x="4368800" y="2201333"/>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7" name="Google Shape;107;p29"/>
          <p:cNvSpPr txBox="1"/>
          <p:nvPr>
            <p:ph idx="4" type="body"/>
          </p:nvPr>
        </p:nvSpPr>
        <p:spPr>
          <a:xfrm>
            <a:off x="4366858" y="2904067"/>
            <a:ext cx="3456432" cy="331461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8" name="Google Shape;108;p29"/>
          <p:cNvSpPr txBox="1"/>
          <p:nvPr>
            <p:ph idx="5" type="body"/>
          </p:nvPr>
        </p:nvSpPr>
        <p:spPr>
          <a:xfrm>
            <a:off x="8051800" y="2192866"/>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9" name="Google Shape;109;p29"/>
          <p:cNvSpPr txBox="1"/>
          <p:nvPr>
            <p:ph idx="6" type="body"/>
          </p:nvPr>
        </p:nvSpPr>
        <p:spPr>
          <a:xfrm>
            <a:off x="8051801"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0" name="Google Shape;110;p29"/>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9"/>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29"/>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3" name="Shape 113"/>
        <p:cNvGrpSpPr/>
        <p:nvPr/>
      </p:nvGrpSpPr>
      <p:grpSpPr>
        <a:xfrm>
          <a:off x="0" y="0"/>
          <a:ext cx="0" cy="0"/>
          <a:chOff x="0" y="0"/>
          <a:chExt cx="0" cy="0"/>
        </a:xfrm>
      </p:grpSpPr>
      <p:sp>
        <p:nvSpPr>
          <p:cNvPr id="114" name="Google Shape;114;p30"/>
          <p:cNvSpPr txBox="1"/>
          <p:nvPr>
            <p:ph type="title"/>
          </p:nvPr>
        </p:nvSpPr>
        <p:spPr>
          <a:xfrm>
            <a:off x="2895600" y="762000"/>
            <a:ext cx="8610599"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30"/>
          <p:cNvSpPr txBox="1"/>
          <p:nvPr>
            <p:ph idx="1" type="body"/>
          </p:nvPr>
        </p:nvSpPr>
        <p:spPr>
          <a:xfrm>
            <a:off x="688618" y="4191000"/>
            <a:ext cx="3451582"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6" name="Google Shape;116;p30"/>
          <p:cNvSpPr/>
          <p:nvPr>
            <p:ph idx="2" type="pic"/>
          </p:nvPr>
        </p:nvSpPr>
        <p:spPr>
          <a:xfrm>
            <a:off x="688618" y="2362200"/>
            <a:ext cx="3451582" cy="1524000"/>
          </a:xfrm>
          <a:prstGeom prst="roundRect">
            <a:avLst>
              <a:gd fmla="val 0" name="adj"/>
            </a:avLst>
          </a:prstGeom>
          <a:noFill/>
          <a:ln>
            <a:noFill/>
          </a:ln>
          <a:effectLst>
            <a:outerShdw blurRad="50800" rotWithShape="0" algn="tl" dir="5400000" dist="50800">
              <a:srgbClr val="000000">
                <a:alpha val="41961"/>
              </a:srgbClr>
            </a:outerShdw>
          </a:effectLst>
        </p:spPr>
      </p:sp>
      <p:sp>
        <p:nvSpPr>
          <p:cNvPr id="117" name="Google Shape;117;p30"/>
          <p:cNvSpPr txBox="1"/>
          <p:nvPr>
            <p:ph idx="3" type="body"/>
          </p:nvPr>
        </p:nvSpPr>
        <p:spPr>
          <a:xfrm>
            <a:off x="688618" y="4873764"/>
            <a:ext cx="3451582"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8" name="Google Shape;118;p30"/>
          <p:cNvSpPr txBox="1"/>
          <p:nvPr>
            <p:ph idx="4" type="body"/>
          </p:nvPr>
        </p:nvSpPr>
        <p:spPr>
          <a:xfrm>
            <a:off x="4374263" y="4191000"/>
            <a:ext cx="3448935"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9" name="Google Shape;119;p30"/>
          <p:cNvSpPr/>
          <p:nvPr>
            <p:ph idx="5" type="pic"/>
          </p:nvPr>
        </p:nvSpPr>
        <p:spPr>
          <a:xfrm>
            <a:off x="4374263" y="2362200"/>
            <a:ext cx="3448936" cy="1524000"/>
          </a:xfrm>
          <a:prstGeom prst="roundRect">
            <a:avLst>
              <a:gd fmla="val 0" name="adj"/>
            </a:avLst>
          </a:prstGeom>
          <a:noFill/>
          <a:ln>
            <a:noFill/>
          </a:ln>
          <a:effectLst>
            <a:outerShdw blurRad="50800" rotWithShape="0" algn="tl" dir="5400000" dist="50800">
              <a:srgbClr val="000000">
                <a:alpha val="41961"/>
              </a:srgbClr>
            </a:outerShdw>
          </a:effectLst>
        </p:spPr>
      </p:sp>
      <p:sp>
        <p:nvSpPr>
          <p:cNvPr id="120" name="Google Shape;120;p30"/>
          <p:cNvSpPr txBox="1"/>
          <p:nvPr>
            <p:ph idx="6" type="body"/>
          </p:nvPr>
        </p:nvSpPr>
        <p:spPr>
          <a:xfrm>
            <a:off x="4374264" y="4873763"/>
            <a:ext cx="344893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1" name="Google Shape;121;p30"/>
          <p:cNvSpPr txBox="1"/>
          <p:nvPr>
            <p:ph idx="7" type="body"/>
          </p:nvPr>
        </p:nvSpPr>
        <p:spPr>
          <a:xfrm>
            <a:off x="8049731" y="4191000"/>
            <a:ext cx="3456469"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2" name="Google Shape;122;p30"/>
          <p:cNvSpPr/>
          <p:nvPr>
            <p:ph idx="8" type="pic"/>
          </p:nvPr>
        </p:nvSpPr>
        <p:spPr>
          <a:xfrm>
            <a:off x="8049855" y="2362200"/>
            <a:ext cx="3447878" cy="1524000"/>
          </a:xfrm>
          <a:prstGeom prst="roundRect">
            <a:avLst>
              <a:gd fmla="val 0" name="adj"/>
            </a:avLst>
          </a:prstGeom>
          <a:noFill/>
          <a:ln>
            <a:noFill/>
          </a:ln>
          <a:effectLst>
            <a:outerShdw blurRad="50800" rotWithShape="0" algn="tl" dir="5400000" dist="50800">
              <a:srgbClr val="000000">
                <a:alpha val="41961"/>
              </a:srgbClr>
            </a:outerShdw>
          </a:effectLst>
        </p:spPr>
      </p:sp>
      <p:sp>
        <p:nvSpPr>
          <p:cNvPr id="123" name="Google Shape;123;p30"/>
          <p:cNvSpPr txBox="1"/>
          <p:nvPr>
            <p:ph idx="9" type="body"/>
          </p:nvPr>
        </p:nvSpPr>
        <p:spPr>
          <a:xfrm>
            <a:off x="8049731" y="4873761"/>
            <a:ext cx="345244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4" name="Google Shape;124;p30"/>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30"/>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30"/>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7" name="Shape 127"/>
        <p:cNvGrpSpPr/>
        <p:nvPr/>
      </p:nvGrpSpPr>
      <p:grpSpPr>
        <a:xfrm>
          <a:off x="0" y="0"/>
          <a:ext cx="0" cy="0"/>
          <a:chOff x="0" y="0"/>
          <a:chExt cx="0" cy="0"/>
        </a:xfrm>
      </p:grpSpPr>
      <p:sp>
        <p:nvSpPr>
          <p:cNvPr id="128" name="Google Shape;128;p3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31"/>
          <p:cNvSpPr txBox="1"/>
          <p:nvPr>
            <p:ph idx="1" type="body"/>
          </p:nvPr>
        </p:nvSpPr>
        <p:spPr>
          <a:xfrm rot="5400000">
            <a:off x="4083937" y="-1203579"/>
            <a:ext cx="4024125" cy="10820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0" name="Google Shape;130;p31"/>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31"/>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3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33" name="Shape 133"/>
        <p:cNvGrpSpPr/>
        <p:nvPr/>
      </p:nvGrpSpPr>
      <p:grpSpPr>
        <a:xfrm>
          <a:off x="0" y="0"/>
          <a:ext cx="0" cy="0"/>
          <a:chOff x="0" y="0"/>
          <a:chExt cx="0" cy="0"/>
        </a:xfrm>
      </p:grpSpPr>
      <p:pic>
        <p:nvPicPr>
          <p:cNvPr descr="C0-HD-BTM.png" id="134" name="Google Shape;134;p32"/>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35" name="Google Shape;135;p32"/>
          <p:cNvSpPr txBox="1"/>
          <p:nvPr>
            <p:ph type="title"/>
          </p:nvPr>
        </p:nvSpPr>
        <p:spPr>
          <a:xfrm rot="5400000">
            <a:off x="8525933" y="1667933"/>
            <a:ext cx="3903133" cy="2057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32"/>
          <p:cNvSpPr txBox="1"/>
          <p:nvPr>
            <p:ph idx="1" type="body"/>
          </p:nvPr>
        </p:nvSpPr>
        <p:spPr>
          <a:xfrm rot="5400000">
            <a:off x="3175000" y="-1405467"/>
            <a:ext cx="3903133" cy="82042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7" name="Google Shape;137;p32"/>
          <p:cNvSpPr txBox="1"/>
          <p:nvPr>
            <p:ph idx="10" type="dt"/>
          </p:nvPr>
        </p:nvSpPr>
        <p:spPr>
          <a:xfrm>
            <a:off x="7814452" y="379941"/>
            <a:ext cx="291084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32"/>
          <p:cNvSpPr txBox="1"/>
          <p:nvPr>
            <p:ph idx="11" type="ftr"/>
          </p:nvPr>
        </p:nvSpPr>
        <p:spPr>
          <a:xfrm>
            <a:off x="685800" y="381000"/>
            <a:ext cx="699149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32"/>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pic>
        <p:nvPicPr>
          <p:cNvPr descr="C0-HD-TOP.png" id="6" name="Google Shape;6;p15"/>
          <p:cNvPicPr preferRelativeResize="0"/>
          <p:nvPr/>
        </p:nvPicPr>
        <p:blipFill rotWithShape="1">
          <a:blip r:embed="rId1">
            <a:alphaModFix/>
          </a:blip>
          <a:srcRect b="0" l="0" r="0" t="0"/>
          <a:stretch/>
        </p:blipFill>
        <p:spPr>
          <a:xfrm>
            <a:off x="0" y="0"/>
            <a:ext cx="12192000" cy="1441450"/>
          </a:xfrm>
          <a:prstGeom prst="rect">
            <a:avLst/>
          </a:prstGeom>
          <a:noFill/>
          <a:ln>
            <a:noFill/>
          </a:ln>
        </p:spPr>
      </p:pic>
      <p:sp>
        <p:nvSpPr>
          <p:cNvPr id="7" name="Google Shape;7;p15"/>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marR="0" rtl="0" algn="r">
              <a:lnSpc>
                <a:spcPct val="90000"/>
              </a:lnSpc>
              <a:spcBef>
                <a:spcPts val="0"/>
              </a:spcBef>
              <a:spcAft>
                <a:spcPts val="0"/>
              </a:spcAft>
              <a:buClr>
                <a:schemeClr val="lt1"/>
              </a:buClr>
              <a:buSzPts val="4000"/>
              <a:buFont typeface="Century Gothic"/>
              <a:buNone/>
              <a:defRPr b="0" i="0" sz="40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5"/>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5pPr>
            <a:lvl6pPr indent="-330200" lvl="5" marL="27432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6pPr>
            <a:lvl7pPr indent="-330200" lvl="6" marL="32004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7pPr>
            <a:lvl8pPr indent="-330200" lvl="7" marL="36576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8pPr>
            <a:lvl9pPr indent="-330200" lvl="8" marL="4114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9pPr>
          </a:lstStyle>
          <a:p/>
        </p:txBody>
      </p:sp>
      <p:sp>
        <p:nvSpPr>
          <p:cNvPr id="9" name="Google Shape;9;p15"/>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5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0" name="Google Shape;10;p15"/>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1" name="Google Shape;11;p1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0.png"/><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cmu-sei.github.io/secure-coding-standards/sei-cert-cpp-coding-standard/" TargetMode="Externa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
          <p:cNvSpPr txBox="1"/>
          <p:nvPr>
            <p:ph type="ctrTitle"/>
          </p:nvPr>
        </p:nvSpPr>
        <p:spPr>
          <a:xfrm>
            <a:off x="1371600" y="1790153"/>
            <a:ext cx="9448800" cy="182509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p:nvPr>
            <p:ph idx="1" type="subTitle"/>
          </p:nvPr>
        </p:nvSpPr>
        <p:spPr>
          <a:xfrm>
            <a:off x="1371600" y="3632200"/>
            <a:ext cx="9448800" cy="1561592"/>
          </a:xfrm>
          <a:prstGeom prst="rect">
            <a:avLst/>
          </a:prstGeom>
          <a:noFill/>
          <a:ln>
            <a:noFill/>
          </a:ln>
        </p:spPr>
        <p:txBody>
          <a:bodyPr anchorCtr="0" anchor="t" bIns="45700" lIns="91425" spcFirstLastPara="1" rIns="91425" wrap="square" tIns="45700">
            <a:normAutofit/>
          </a:bodyPr>
          <a:lstStyle/>
          <a:p>
            <a:pPr indent="0" lvl="0" marL="0" rtl="0" algn="l">
              <a:lnSpc>
                <a:spcPct val="70000"/>
              </a:lnSpc>
              <a:spcBef>
                <a:spcPts val="0"/>
              </a:spcBef>
              <a:spcAft>
                <a:spcPts val="0"/>
              </a:spcAft>
              <a:buClr>
                <a:schemeClr val="lt1"/>
              </a:buClr>
              <a:buSzPts val="1850"/>
              <a:buNone/>
            </a:pPr>
            <a:r>
              <a:rPr lang="en-US" sz="1850"/>
              <a:t>Security Policy Presentation</a:t>
            </a:r>
            <a:endParaRPr/>
          </a:p>
          <a:p>
            <a:pPr indent="0" lvl="0" marL="0" rtl="0" algn="l">
              <a:lnSpc>
                <a:spcPct val="70000"/>
              </a:lnSpc>
              <a:spcBef>
                <a:spcPts val="1000"/>
              </a:spcBef>
              <a:spcAft>
                <a:spcPts val="0"/>
              </a:spcAft>
              <a:buClr>
                <a:schemeClr val="lt1"/>
              </a:buClr>
              <a:buSzPts val="1850"/>
              <a:buNone/>
            </a:pPr>
            <a:r>
              <a:rPr lang="en-US" sz="1850"/>
              <a:t>Developer: </a:t>
            </a:r>
            <a:r>
              <a:rPr i="1" lang="en-US" sz="1850"/>
              <a:t>Derek Hui</a:t>
            </a:r>
            <a:endParaRPr/>
          </a:p>
          <a:p>
            <a:pPr indent="0" lvl="0" marL="0" rtl="0" algn="l">
              <a:lnSpc>
                <a:spcPct val="70000"/>
              </a:lnSpc>
              <a:spcBef>
                <a:spcPts val="1000"/>
              </a:spcBef>
              <a:spcAft>
                <a:spcPts val="0"/>
              </a:spcAft>
              <a:buClr>
                <a:schemeClr val="lt1"/>
              </a:buClr>
              <a:buSzPts val="1850"/>
              <a:buNone/>
            </a:pPr>
            <a:r>
              <a:t/>
            </a:r>
            <a:endParaRPr i="1" sz="1850"/>
          </a:p>
          <a:p>
            <a:pPr indent="0" lvl="0" marL="0" rtl="0" algn="l">
              <a:lnSpc>
                <a:spcPct val="70000"/>
              </a:lnSpc>
              <a:spcBef>
                <a:spcPts val="1000"/>
              </a:spcBef>
              <a:spcAft>
                <a:spcPts val="0"/>
              </a:spcAft>
              <a:buSzPts val="1850"/>
              <a:buNone/>
            </a:pPr>
            <a:r>
              <a:rPr lang="en-US"/>
              <a:t>Moving from DevOps </a:t>
            </a:r>
            <a:r>
              <a:rPr lang="en-US"/>
              <a:t>to</a:t>
            </a:r>
            <a:r>
              <a:rPr lang="en-US"/>
              <a:t> DevSecOps.</a:t>
            </a:r>
            <a:endParaRPr i="1"/>
          </a:p>
        </p:txBody>
      </p:sp>
      <p:pic>
        <p:nvPicPr>
          <p:cNvPr descr="Green Pace logo" id="146" name="Google Shape;146;p1"/>
          <p:cNvPicPr preferRelativeResize="0"/>
          <p:nvPr/>
        </p:nvPicPr>
        <p:blipFill rotWithShape="1">
          <a:blip r:embed="rId3">
            <a:alphaModFix/>
          </a:blip>
          <a:srcRect b="0" l="0" r="0" t="0"/>
          <a:stretch/>
        </p:blipFill>
        <p:spPr>
          <a:xfrm>
            <a:off x="7440774" y="659854"/>
            <a:ext cx="2921424" cy="3786772"/>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f716694f9a_0_0"/>
          <p:cNvSpPr txBox="1"/>
          <p:nvPr>
            <p:ph type="title"/>
          </p:nvPr>
        </p:nvSpPr>
        <p:spPr>
          <a:xfrm>
            <a:off x="1790700" y="-2"/>
            <a:ext cx="8610600" cy="129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OVERVIEW: DEFENSE IN DEPTH</a:t>
            </a:r>
            <a:endParaRPr/>
          </a:p>
        </p:txBody>
      </p:sp>
      <p:pic>
        <p:nvPicPr>
          <p:cNvPr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id="152" name="Google Shape;152;g3f716694f9a_0_0"/>
          <p:cNvPicPr preferRelativeResize="0"/>
          <p:nvPr/>
        </p:nvPicPr>
        <p:blipFill rotWithShape="1">
          <a:blip r:embed="rId3">
            <a:alphaModFix/>
          </a:blip>
          <a:srcRect b="0" l="0" r="0" t="0"/>
          <a:stretch/>
        </p:blipFill>
        <p:spPr>
          <a:xfrm>
            <a:off x="1085180" y="961125"/>
            <a:ext cx="10021646" cy="5896875"/>
          </a:xfrm>
          <a:prstGeom prst="rect">
            <a:avLst/>
          </a:prstGeom>
          <a:noFill/>
          <a:ln>
            <a:noFill/>
          </a:ln>
        </p:spPr>
      </p:pic>
      <p:pic>
        <p:nvPicPr>
          <p:cNvPr descr="Green Pace logo" id="153" name="Google Shape;153;g3f716694f9a_0_0"/>
          <p:cNvPicPr preferRelativeResize="0"/>
          <p:nvPr/>
        </p:nvPicPr>
        <p:blipFill rotWithShape="1">
          <a:blip r:embed="rId4">
            <a:alphaModFix/>
          </a:blip>
          <a:srcRect b="0" l="0" r="0" t="0"/>
          <a:stretch/>
        </p:blipFill>
        <p:spPr>
          <a:xfrm>
            <a:off x="11084074" y="5440526"/>
            <a:ext cx="886601" cy="1149223"/>
          </a:xfrm>
          <a:prstGeom prst="rect">
            <a:avLst/>
          </a:prstGeom>
          <a:noFill/>
          <a:ln>
            <a:noFill/>
          </a:ln>
        </p:spPr>
      </p:pic>
    </p:spTree>
  </p:cSld>
  <p:clrMapOvr>
    <a:masterClrMapping/>
  </p:clrMapOvr>
  <mc:AlternateContent>
    <mc:Choice Requires="p14">
      <p:transition spd="med">
        <p14:prism dir="l"/>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
          <p:cNvSpPr txBox="1"/>
          <p:nvPr>
            <p:ph type="title"/>
          </p:nvPr>
        </p:nvSpPr>
        <p:spPr>
          <a:xfrm>
            <a:off x="3581400" y="-2"/>
            <a:ext cx="8610600" cy="129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9" name="Google Shape;159;p3"/>
          <p:cNvSpPr txBox="1"/>
          <p:nvPr>
            <p:ph idx="1" type="body"/>
          </p:nvPr>
        </p:nvSpPr>
        <p:spPr>
          <a:xfrm>
            <a:off x="506250" y="955601"/>
            <a:ext cx="10820400" cy="4760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Reasoning</a:t>
            </a:r>
            <a:endParaRPr/>
          </a:p>
          <a:p>
            <a:pPr indent="0" lvl="0" marL="0" rtl="0" algn="l">
              <a:lnSpc>
                <a:spcPct val="90000"/>
              </a:lnSpc>
              <a:spcBef>
                <a:spcPts val="0"/>
              </a:spcBef>
              <a:spcAft>
                <a:spcPts val="0"/>
              </a:spcAft>
              <a:buNone/>
            </a:pPr>
            <a:r>
              <a:t/>
            </a:r>
            <a:endParaRPr/>
          </a:p>
          <a:p>
            <a:pPr indent="-342900" lvl="0" marL="457200" rtl="0" algn="l">
              <a:lnSpc>
                <a:spcPct val="90000"/>
              </a:lnSpc>
              <a:spcBef>
                <a:spcPts val="0"/>
              </a:spcBef>
              <a:spcAft>
                <a:spcPts val="0"/>
              </a:spcAft>
              <a:buSzPts val="1800"/>
              <a:buChar char="•"/>
            </a:pPr>
            <a:r>
              <a:rPr lang="en-US"/>
              <a:t>This security policy  is a reform in how we code</a:t>
            </a:r>
            <a:endParaRPr/>
          </a:p>
          <a:p>
            <a:pPr indent="-342900" lvl="0" marL="457200" rtl="0" algn="l">
              <a:lnSpc>
                <a:spcPct val="90000"/>
              </a:lnSpc>
              <a:spcBef>
                <a:spcPts val="0"/>
              </a:spcBef>
              <a:spcAft>
                <a:spcPts val="0"/>
              </a:spcAft>
              <a:buSzPts val="1800"/>
              <a:buChar char="•"/>
            </a:pPr>
            <a:r>
              <a:rPr lang="en-US"/>
              <a:t>Development from DevOps -&gt; SecDevOps</a:t>
            </a:r>
            <a:endParaRPr/>
          </a:p>
          <a:p>
            <a:pPr indent="-342900" lvl="0" marL="457200" rtl="0" algn="l">
              <a:lnSpc>
                <a:spcPct val="90000"/>
              </a:lnSpc>
              <a:spcBef>
                <a:spcPts val="0"/>
              </a:spcBef>
              <a:spcAft>
                <a:spcPts val="0"/>
              </a:spcAft>
              <a:buSzPts val="1800"/>
              <a:buChar char="•"/>
            </a:pPr>
            <a:r>
              <a:rPr lang="en-US"/>
              <a:t>Layered Security</a:t>
            </a:r>
            <a:endParaRPr/>
          </a:p>
          <a:p>
            <a:pPr indent="0" lvl="0" marL="0" rtl="0" algn="l">
              <a:lnSpc>
                <a:spcPct val="90000"/>
              </a:lnSpc>
              <a:spcBef>
                <a:spcPts val="0"/>
              </a:spcBef>
              <a:spcAft>
                <a:spcPts val="0"/>
              </a:spcAft>
              <a:buNone/>
            </a:pPr>
            <a:r>
              <a:t/>
            </a:r>
            <a:endParaRPr/>
          </a:p>
          <a:p>
            <a:pPr indent="0" lvl="0" marL="0" rtl="0" algn="l">
              <a:lnSpc>
                <a:spcPct val="90000"/>
              </a:lnSpc>
              <a:spcBef>
                <a:spcPts val="0"/>
              </a:spcBef>
              <a:spcAft>
                <a:spcPts val="0"/>
              </a:spcAft>
              <a:buNone/>
            </a:pPr>
            <a:r>
              <a:rPr lang="en-US"/>
              <a:t>Outcomes</a:t>
            </a:r>
            <a:endParaRPr/>
          </a:p>
          <a:p>
            <a:pPr indent="0" lvl="0" marL="0" rtl="0" algn="l">
              <a:lnSpc>
                <a:spcPct val="90000"/>
              </a:lnSpc>
              <a:spcBef>
                <a:spcPts val="0"/>
              </a:spcBef>
              <a:spcAft>
                <a:spcPts val="0"/>
              </a:spcAft>
              <a:buNone/>
            </a:pPr>
            <a:r>
              <a:t/>
            </a:r>
            <a:endParaRPr/>
          </a:p>
          <a:p>
            <a:pPr indent="-342900" lvl="0" marL="457200" rtl="0" algn="l">
              <a:lnSpc>
                <a:spcPct val="90000"/>
              </a:lnSpc>
              <a:spcBef>
                <a:spcPts val="0"/>
              </a:spcBef>
              <a:spcAft>
                <a:spcPts val="0"/>
              </a:spcAft>
              <a:buSzPts val="1800"/>
              <a:buChar char="•"/>
            </a:pPr>
            <a:r>
              <a:rPr lang="en-US"/>
              <a:t>A layer of security and safety for our applications</a:t>
            </a:r>
            <a:endParaRPr/>
          </a:p>
          <a:p>
            <a:pPr indent="-342900" lvl="0" marL="457200" rtl="0" algn="l">
              <a:lnSpc>
                <a:spcPct val="90000"/>
              </a:lnSpc>
              <a:spcBef>
                <a:spcPts val="0"/>
              </a:spcBef>
              <a:spcAft>
                <a:spcPts val="0"/>
              </a:spcAft>
              <a:buSzPts val="1800"/>
              <a:buChar char="•"/>
            </a:pPr>
            <a:r>
              <a:rPr lang="en-US"/>
              <a:t>Easier project management</a:t>
            </a:r>
            <a:endParaRPr/>
          </a:p>
          <a:p>
            <a:pPr indent="-342900" lvl="0" marL="457200" rtl="0" algn="l">
              <a:lnSpc>
                <a:spcPct val="90000"/>
              </a:lnSpc>
              <a:spcBef>
                <a:spcPts val="0"/>
              </a:spcBef>
              <a:spcAft>
                <a:spcPts val="0"/>
              </a:spcAft>
              <a:buSzPts val="1800"/>
              <a:buChar char="•"/>
            </a:pPr>
            <a:r>
              <a:rPr lang="en-US"/>
              <a:t>Faster and better recovery</a:t>
            </a:r>
            <a:endParaRPr/>
          </a:p>
          <a:p>
            <a:pPr indent="-342900" lvl="0" marL="457200" rtl="0" algn="l">
              <a:lnSpc>
                <a:spcPct val="90000"/>
              </a:lnSpc>
              <a:spcBef>
                <a:spcPts val="0"/>
              </a:spcBef>
              <a:spcAft>
                <a:spcPts val="0"/>
              </a:spcAft>
              <a:buSzPts val="1800"/>
              <a:buChar char="•"/>
            </a:pPr>
            <a:r>
              <a:rPr lang="en-US"/>
              <a:t>Prevention = Safety+Security in my new Empire</a:t>
            </a:r>
            <a:endParaRPr/>
          </a:p>
          <a:p>
            <a:pPr indent="0" lvl="0" marL="685800" rtl="0" algn="l">
              <a:lnSpc>
                <a:spcPct val="90000"/>
              </a:lnSpc>
              <a:spcBef>
                <a:spcPts val="0"/>
              </a:spcBef>
              <a:spcAft>
                <a:spcPts val="0"/>
              </a:spcAft>
              <a:buSzPts val="1800"/>
              <a:buNone/>
            </a:pPr>
            <a:r>
              <a:t/>
            </a:r>
            <a:endParaRPr/>
          </a:p>
          <a:p>
            <a:pPr indent="0" lvl="0" marL="685800" rtl="0" algn="l">
              <a:lnSpc>
                <a:spcPct val="90000"/>
              </a:lnSpc>
              <a:spcBef>
                <a:spcPts val="0"/>
              </a:spcBef>
              <a:spcAft>
                <a:spcPts val="0"/>
              </a:spcAft>
              <a:buSzPts val="1800"/>
              <a:buNone/>
            </a:pPr>
            <a:r>
              <a:t/>
            </a:r>
            <a:endParaRPr/>
          </a:p>
          <a:p>
            <a:pPr indent="0" lvl="0" marL="0" rtl="0" algn="l">
              <a:lnSpc>
                <a:spcPct val="90000"/>
              </a:lnSpc>
              <a:spcBef>
                <a:spcPts val="1000"/>
              </a:spcBef>
              <a:spcAft>
                <a:spcPts val="0"/>
              </a:spcAft>
              <a:buClr>
                <a:schemeClr val="lt1"/>
              </a:buClr>
              <a:buSzPts val="2200"/>
              <a:buNone/>
            </a:pPr>
            <a:r>
              <a:t/>
            </a:r>
            <a:endParaRPr/>
          </a:p>
        </p:txBody>
      </p:sp>
      <p:pic>
        <p:nvPicPr>
          <p:cNvPr descr="Green Pace logo" id="160" name="Google Shape;160;p3"/>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pic>
        <p:nvPicPr>
          <p:cNvPr id="161" name="Google Shape;161;p3"/>
          <p:cNvPicPr preferRelativeResize="0"/>
          <p:nvPr/>
        </p:nvPicPr>
        <p:blipFill>
          <a:blip r:embed="rId4">
            <a:alphaModFix/>
          </a:blip>
          <a:stretch>
            <a:fillRect/>
          </a:stretch>
        </p:blipFill>
        <p:spPr>
          <a:xfrm>
            <a:off x="3581400" y="4710427"/>
            <a:ext cx="3527676" cy="2057800"/>
          </a:xfrm>
          <a:prstGeom prst="rect">
            <a:avLst/>
          </a:prstGeom>
          <a:noFill/>
          <a:ln>
            <a:noFill/>
          </a:ln>
        </p:spPr>
      </p:pic>
      <p:sp>
        <p:nvSpPr>
          <p:cNvPr id="162" name="Google Shape;162;p3"/>
          <p:cNvSpPr txBox="1"/>
          <p:nvPr/>
        </p:nvSpPr>
        <p:spPr>
          <a:xfrm>
            <a:off x="7109075" y="6480900"/>
            <a:ext cx="2657400" cy="3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a:solidFill>
                  <a:schemeClr val="lt1"/>
                </a:solidFill>
              </a:rPr>
              <a:t>(</a:t>
            </a:r>
            <a:r>
              <a:rPr i="1" lang="en-US" sz="1100">
                <a:solidFill>
                  <a:schemeClr val="lt1"/>
                </a:solidFill>
              </a:rPr>
              <a:t>Redirect Notice</a:t>
            </a:r>
            <a:r>
              <a:rPr lang="en-US" sz="1100">
                <a:solidFill>
                  <a:schemeClr val="lt1"/>
                </a:solidFill>
              </a:rPr>
              <a:t>, n.d.)</a:t>
            </a:r>
            <a:endParaRPr sz="2200">
              <a:solidFill>
                <a:schemeClr val="lt1"/>
              </a:solidFill>
              <a:latin typeface="Century Gothic"/>
              <a:ea typeface="Century Gothic"/>
              <a:cs typeface="Century Gothic"/>
              <a:sym typeface="Century Gothic"/>
            </a:endParaRPr>
          </a:p>
        </p:txBody>
      </p:sp>
    </p:spTree>
  </p:cSld>
  <p:clrMapOvr>
    <a:masterClrMapping/>
  </p:clrMapOvr>
  <p:transition spd="med">
    <p:fade thruBlk="1"/>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4"/>
          <p:cNvSpPr txBox="1"/>
          <p:nvPr>
            <p:ph type="title"/>
          </p:nvPr>
        </p:nvSpPr>
        <p:spPr>
          <a:xfrm>
            <a:off x="3860850" y="408400"/>
            <a:ext cx="4470300" cy="129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THREATS MATRIX</a:t>
            </a:r>
            <a:endParaRPr/>
          </a:p>
        </p:txBody>
      </p:sp>
      <p:graphicFrame>
        <p:nvGraphicFramePr>
          <p:cNvPr descr="Alt text required" id="168" name="Google Shape;168;p4"/>
          <p:cNvGraphicFramePr/>
          <p:nvPr/>
        </p:nvGraphicFramePr>
        <p:xfrm>
          <a:off x="2178388" y="1701400"/>
          <a:ext cx="3000000" cy="3000000"/>
        </p:xfrm>
        <a:graphic>
          <a:graphicData uri="http://schemas.openxmlformats.org/drawingml/2006/table">
            <a:tbl>
              <a:tblPr firstCol="1" firstRow="1">
                <a:noFill/>
                <a:tableStyleId>{1189E2AF-0B6F-4CFA-9A2B-FAEA5202A21F}</a:tableStyleId>
              </a:tblPr>
              <a:tblGrid>
                <a:gridCol w="4030425"/>
                <a:gridCol w="3804800"/>
              </a:tblGrid>
              <a:tr h="2591975">
                <a:tc>
                  <a:txBody>
                    <a:bodyPr/>
                    <a:lstStyle/>
                    <a:p>
                      <a:pPr indent="0" lvl="0" marL="0" marR="0" rtl="0" algn="ctr">
                        <a:lnSpc>
                          <a:spcPct val="100000"/>
                        </a:lnSpc>
                        <a:spcBef>
                          <a:spcPts val="0"/>
                        </a:spcBef>
                        <a:spcAft>
                          <a:spcPts val="0"/>
                        </a:spcAft>
                        <a:buClr>
                          <a:srgbClr val="000000"/>
                        </a:buClr>
                        <a:buSzPts val="3600"/>
                        <a:buFont typeface="Arial"/>
                        <a:buNone/>
                      </a:pPr>
                      <a:r>
                        <a:rPr lang="en-US" sz="3600" u="none" cap="none" strike="noStrike">
                          <a:solidFill>
                            <a:srgbClr val="FFD966"/>
                          </a:solidFill>
                        </a:rPr>
                        <a:t>Likely</a:t>
                      </a:r>
                      <a:endParaRPr sz="1400" u="none" cap="none" strike="noStrike"/>
                    </a:p>
                    <a:p>
                      <a:pPr indent="0" lvl="0" marL="0" marR="0" rtl="0" algn="ctr">
                        <a:lnSpc>
                          <a:spcPct val="100000"/>
                        </a:lnSpc>
                        <a:spcBef>
                          <a:spcPts val="0"/>
                        </a:spcBef>
                        <a:spcAft>
                          <a:spcPts val="0"/>
                        </a:spcAft>
                        <a:buClr>
                          <a:srgbClr val="000000"/>
                        </a:buClr>
                        <a:buSzPts val="3600"/>
                        <a:buFont typeface="Arial"/>
                        <a:buNone/>
                      </a:pPr>
                      <a:r>
                        <a:rPr b="1" lang="en-US" sz="1900">
                          <a:solidFill>
                            <a:schemeClr val="dk1"/>
                          </a:solidFill>
                          <a:latin typeface="Calibri"/>
                          <a:ea typeface="Calibri"/>
                          <a:cs typeface="Calibri"/>
                          <a:sym typeface="Calibri"/>
                        </a:rPr>
                        <a:t>STR-30-C</a:t>
                      </a:r>
                      <a:endParaRPr b="1" sz="19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600"/>
                        <a:buFont typeface="Arial"/>
                        <a:buNone/>
                      </a:pPr>
                      <a:r>
                        <a:rPr b="1" lang="en-US" sz="1900">
                          <a:solidFill>
                            <a:schemeClr val="dk1"/>
                          </a:solidFill>
                          <a:latin typeface="Calibri"/>
                          <a:ea typeface="Calibri"/>
                          <a:cs typeface="Calibri"/>
                          <a:sym typeface="Calibri"/>
                        </a:rPr>
                        <a:t>STR-50-CPP</a:t>
                      </a:r>
                      <a:endParaRPr b="1" sz="19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600"/>
                        <a:buFont typeface="Arial"/>
                        <a:buNone/>
                      </a:pPr>
                      <a:r>
                        <a:rPr b="1" lang="en-US" sz="1900">
                          <a:solidFill>
                            <a:schemeClr val="dk1"/>
                          </a:solidFill>
                          <a:latin typeface="Calibri"/>
                          <a:ea typeface="Calibri"/>
                          <a:cs typeface="Calibri"/>
                          <a:sym typeface="Calibri"/>
                        </a:rPr>
                        <a:t>STR-51-CPP</a:t>
                      </a:r>
                      <a:endParaRPr b="1" sz="19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3600"/>
                        <a:buFont typeface="Arial"/>
                        <a:buNone/>
                      </a:pPr>
                      <a:r>
                        <a:rPr b="1" lang="en-US" sz="1900">
                          <a:solidFill>
                            <a:schemeClr val="dk1"/>
                          </a:solidFill>
                          <a:latin typeface="Calibri"/>
                          <a:ea typeface="Calibri"/>
                          <a:cs typeface="Calibri"/>
                          <a:sym typeface="Calibri"/>
                        </a:rPr>
                        <a:t>CTR-50-CPP</a:t>
                      </a:r>
                      <a:endParaRPr b="1" sz="19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600"/>
                        <a:buFont typeface="Arial"/>
                        <a:buNone/>
                      </a:pPr>
                      <a:r>
                        <a:rPr b="1" lang="en-US" sz="1900">
                          <a:solidFill>
                            <a:schemeClr val="dk1"/>
                          </a:solidFill>
                          <a:latin typeface="Calibri"/>
                          <a:ea typeface="Calibri"/>
                          <a:cs typeface="Calibri"/>
                          <a:sym typeface="Calibri"/>
                        </a:rPr>
                        <a:t>MEM-51-CPP</a:t>
                      </a:r>
                      <a:endParaRPr b="1" sz="19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600"/>
                        <a:buFont typeface="Arial"/>
                        <a:buNone/>
                      </a:pPr>
                      <a:r>
                        <a:rPr b="1" lang="en-US" sz="1900">
                          <a:solidFill>
                            <a:schemeClr val="dk1"/>
                          </a:solidFill>
                          <a:latin typeface="Calibri"/>
                          <a:ea typeface="Calibri"/>
                          <a:cs typeface="Calibri"/>
                          <a:sym typeface="Calibri"/>
                        </a:rPr>
                        <a:t>IDS-06-J</a:t>
                      </a:r>
                      <a:endParaRPr b="1" sz="1900">
                        <a:solidFill>
                          <a:schemeClr val="dk1"/>
                        </a:solidFill>
                        <a:latin typeface="Calibri"/>
                        <a:ea typeface="Calibri"/>
                        <a:cs typeface="Calibri"/>
                        <a:sym typeface="Calibri"/>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3600"/>
                        <a:buFont typeface="Arial"/>
                        <a:buNone/>
                      </a:pPr>
                      <a:r>
                        <a:rPr lang="en-US" sz="3600">
                          <a:solidFill>
                            <a:srgbClr val="FFD966"/>
                          </a:solidFill>
                        </a:rPr>
                        <a:t>High </a:t>
                      </a:r>
                      <a:r>
                        <a:rPr lang="en-US" sz="3600" u="none" cap="none" strike="noStrike">
                          <a:solidFill>
                            <a:srgbClr val="FFD966"/>
                          </a:solidFill>
                        </a:rPr>
                        <a:t>Priority</a:t>
                      </a:r>
                      <a:endParaRPr sz="1400" u="none" cap="none" strike="noStrike"/>
                    </a:p>
                    <a:p>
                      <a:pPr indent="0" lvl="0" marL="0" rtl="0" algn="ctr">
                        <a:spcBef>
                          <a:spcPts val="0"/>
                        </a:spcBef>
                        <a:spcAft>
                          <a:spcPts val="0"/>
                        </a:spcAft>
                        <a:buClr>
                          <a:schemeClr val="dk1"/>
                        </a:buClr>
                        <a:buSzPts val="3600"/>
                        <a:buFont typeface="Arial"/>
                        <a:buNone/>
                      </a:pPr>
                      <a:r>
                        <a:rPr b="1" lang="en-US" sz="1900">
                          <a:solidFill>
                            <a:schemeClr val="dk1"/>
                          </a:solidFill>
                          <a:latin typeface="Calibri"/>
                          <a:ea typeface="Calibri"/>
                          <a:cs typeface="Calibri"/>
                          <a:sym typeface="Calibri"/>
                        </a:rPr>
                        <a:t>CTR-50-CPP</a:t>
                      </a:r>
                      <a:endParaRPr b="1" sz="19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3600"/>
                        <a:buFont typeface="Arial"/>
                        <a:buNone/>
                      </a:pPr>
                      <a:r>
                        <a:rPr b="1" lang="en-US" sz="1900">
                          <a:solidFill>
                            <a:schemeClr val="dk1"/>
                          </a:solidFill>
                          <a:latin typeface="Calibri"/>
                          <a:ea typeface="Calibri"/>
                          <a:cs typeface="Calibri"/>
                          <a:sym typeface="Calibri"/>
                        </a:rPr>
                        <a:t>STR-30-C</a:t>
                      </a:r>
                      <a:endParaRPr b="1" sz="19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3600"/>
                        <a:buFont typeface="Arial"/>
                        <a:buNone/>
                      </a:pPr>
                      <a:r>
                        <a:rPr b="1" lang="en-US" sz="1900">
                          <a:solidFill>
                            <a:schemeClr val="dk1"/>
                          </a:solidFill>
                          <a:latin typeface="Calibri"/>
                          <a:ea typeface="Calibri"/>
                          <a:cs typeface="Calibri"/>
                          <a:sym typeface="Calibri"/>
                        </a:rPr>
                        <a:t>STR-50-CPP</a:t>
                      </a:r>
                      <a:endParaRPr b="1" sz="19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3600"/>
                        <a:buFont typeface="Arial"/>
                        <a:buNone/>
                      </a:pPr>
                      <a:r>
                        <a:rPr b="1" lang="en-US" sz="1900">
                          <a:solidFill>
                            <a:schemeClr val="dk1"/>
                          </a:solidFill>
                          <a:latin typeface="Calibri"/>
                          <a:ea typeface="Calibri"/>
                          <a:cs typeface="Calibri"/>
                          <a:sym typeface="Calibri"/>
                        </a:rPr>
                        <a:t>STR-51-CPP</a:t>
                      </a:r>
                      <a:endParaRPr b="1" sz="19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3600"/>
                        <a:buFont typeface="Arial"/>
                        <a:buNone/>
                      </a:pPr>
                      <a:r>
                        <a:rPr b="1" lang="en-US" sz="1900">
                          <a:solidFill>
                            <a:schemeClr val="dk1"/>
                          </a:solidFill>
                          <a:latin typeface="Calibri"/>
                          <a:ea typeface="Calibri"/>
                          <a:cs typeface="Calibri"/>
                          <a:sym typeface="Calibri"/>
                        </a:rPr>
                        <a:t>MEM-51-CPP</a:t>
                      </a:r>
                      <a:endParaRPr b="1" sz="19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600"/>
                        <a:buFont typeface="Arial"/>
                        <a:buNone/>
                      </a:pPr>
                      <a:r>
                        <a:t/>
                      </a:r>
                      <a:endParaRPr sz="3600">
                        <a:solidFill>
                          <a:srgbClr val="FFD966"/>
                        </a:solidFill>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r>
              <a:tr h="2160425">
                <a:tc>
                  <a:txBody>
                    <a:bodyPr/>
                    <a:lstStyle/>
                    <a:p>
                      <a:pPr indent="0" lvl="0" marL="0" marR="0" rtl="0" algn="ctr">
                        <a:lnSpc>
                          <a:spcPct val="100000"/>
                        </a:lnSpc>
                        <a:spcBef>
                          <a:spcPts val="0"/>
                        </a:spcBef>
                        <a:spcAft>
                          <a:spcPts val="0"/>
                        </a:spcAft>
                        <a:buClr>
                          <a:srgbClr val="000000"/>
                        </a:buClr>
                        <a:buSzPts val="3600"/>
                        <a:buFont typeface="Arial"/>
                        <a:buNone/>
                      </a:pPr>
                      <a:r>
                        <a:rPr lang="en-US" sz="3600" u="none" cap="none" strike="noStrike">
                          <a:solidFill>
                            <a:srgbClr val="FFD966"/>
                          </a:solidFill>
                        </a:rPr>
                        <a:t>Low priority</a:t>
                      </a:r>
                      <a:endParaRPr sz="1400" u="none" cap="none" strike="noStrike"/>
                    </a:p>
                    <a:p>
                      <a:pPr indent="0" lvl="0" marL="0" marR="0" rtl="0" algn="ctr">
                        <a:lnSpc>
                          <a:spcPct val="100000"/>
                        </a:lnSpc>
                        <a:spcBef>
                          <a:spcPts val="0"/>
                        </a:spcBef>
                        <a:spcAft>
                          <a:spcPts val="0"/>
                        </a:spcAft>
                        <a:buClr>
                          <a:srgbClr val="000000"/>
                        </a:buClr>
                        <a:buSzPts val="3600"/>
                        <a:buFont typeface="Arial"/>
                        <a:buNone/>
                      </a:pPr>
                      <a:r>
                        <a:rPr b="1" lang="en-US" sz="1900">
                          <a:solidFill>
                            <a:schemeClr val="dk1"/>
                          </a:solidFill>
                          <a:latin typeface="Calibri"/>
                          <a:ea typeface="Calibri"/>
                          <a:cs typeface="Calibri"/>
                          <a:sym typeface="Calibri"/>
                        </a:rPr>
                        <a:t>MSC-11-C</a:t>
                      </a:r>
                      <a:endParaRPr b="1" sz="19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600"/>
                        <a:buFont typeface="Arial"/>
                        <a:buNone/>
                      </a:pPr>
                      <a:r>
                        <a:rPr b="1" lang="en-US" sz="1900">
                          <a:solidFill>
                            <a:schemeClr val="dk1"/>
                          </a:solidFill>
                          <a:latin typeface="Calibri"/>
                          <a:ea typeface="Calibri"/>
                          <a:cs typeface="Calibri"/>
                          <a:sym typeface="Calibri"/>
                        </a:rPr>
                        <a:t>ERR-50-CPP</a:t>
                      </a:r>
                      <a:endParaRPr b="1" sz="19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600"/>
                        <a:buFont typeface="Arial"/>
                        <a:buNone/>
                      </a:pPr>
                      <a:r>
                        <a:rPr b="1" lang="en-US" sz="1900">
                          <a:solidFill>
                            <a:schemeClr val="dk1"/>
                          </a:solidFill>
                          <a:latin typeface="Calibri"/>
                          <a:ea typeface="Calibri"/>
                          <a:cs typeface="Calibri"/>
                          <a:sym typeface="Calibri"/>
                        </a:rPr>
                        <a:t>FIO-51-CPP</a:t>
                      </a:r>
                      <a:endParaRPr b="1" sz="14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3600"/>
                        <a:buFont typeface="Arial"/>
                        <a:buNone/>
                      </a:pPr>
                      <a:r>
                        <a:rPr lang="en-US" sz="3600" u="none" cap="none" strike="noStrike">
                          <a:solidFill>
                            <a:srgbClr val="FFD966"/>
                          </a:solidFill>
                        </a:rPr>
                        <a:t>Unlikely</a:t>
                      </a:r>
                      <a:endParaRPr sz="1400" u="none" cap="none" strike="noStrike"/>
                    </a:p>
                    <a:p>
                      <a:pPr indent="0" lvl="0" marL="0" marR="0" rtl="0" algn="ctr">
                        <a:lnSpc>
                          <a:spcPct val="100000"/>
                        </a:lnSpc>
                        <a:spcBef>
                          <a:spcPts val="0"/>
                        </a:spcBef>
                        <a:spcAft>
                          <a:spcPts val="0"/>
                        </a:spcAft>
                        <a:buClr>
                          <a:srgbClr val="000000"/>
                        </a:buClr>
                        <a:buSzPts val="3600"/>
                        <a:buFont typeface="Arial"/>
                        <a:buNone/>
                      </a:pPr>
                      <a:r>
                        <a:rPr b="1" lang="en-US" sz="1900">
                          <a:solidFill>
                            <a:schemeClr val="dk1"/>
                          </a:solidFill>
                          <a:latin typeface="Calibri"/>
                          <a:ea typeface="Calibri"/>
                          <a:cs typeface="Calibri"/>
                          <a:sym typeface="Calibri"/>
                        </a:rPr>
                        <a:t>MSC-11-C</a:t>
                      </a:r>
                      <a:endParaRPr b="1" sz="19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3600"/>
                        <a:buFont typeface="Arial"/>
                        <a:buNone/>
                      </a:pPr>
                      <a:r>
                        <a:rPr b="1" lang="en-US" sz="1900">
                          <a:solidFill>
                            <a:schemeClr val="dk1"/>
                          </a:solidFill>
                          <a:latin typeface="Calibri"/>
                          <a:ea typeface="Calibri"/>
                          <a:cs typeface="Calibri"/>
                          <a:sym typeface="Calibri"/>
                        </a:rPr>
                        <a:t>FIO-51-CPP</a:t>
                      </a:r>
                      <a:endParaRPr sz="1400" u="none" cap="none" strike="noStrike"/>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FFF2CC"/>
                    </a:solidFill>
                  </a:tcPr>
                </a:tc>
              </a:tr>
            </a:tbl>
          </a:graphicData>
        </a:graphic>
      </p:graphicFrame>
      <p:pic>
        <p:nvPicPr>
          <p:cNvPr descr="Green Pace logo" id="169" name="Google Shape;169;p4"/>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transition spd="med">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5"/>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PRINCIPLES</a:t>
            </a:r>
            <a:endParaRPr/>
          </a:p>
        </p:txBody>
      </p:sp>
      <p:sp>
        <p:nvSpPr>
          <p:cNvPr id="175" name="Google Shape;175;p5"/>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0" lvl="0" marL="457200" rtl="0" algn="l">
              <a:lnSpc>
                <a:spcPct val="90000"/>
              </a:lnSpc>
              <a:spcBef>
                <a:spcPts val="0"/>
              </a:spcBef>
              <a:spcAft>
                <a:spcPts val="0"/>
              </a:spcAft>
              <a:buNone/>
            </a:pPr>
            <a:r>
              <a:t/>
            </a:r>
            <a:endParaRPr>
              <a:solidFill>
                <a:srgbClr val="FFFFFF"/>
              </a:solidFill>
            </a:endParaRPr>
          </a:p>
          <a:p>
            <a:pPr indent="-203200" lvl="0" marL="228600" rtl="0" algn="l">
              <a:lnSpc>
                <a:spcPct val="90000"/>
              </a:lnSpc>
              <a:spcBef>
                <a:spcPts val="0"/>
              </a:spcBef>
              <a:spcAft>
                <a:spcPts val="0"/>
              </a:spcAft>
              <a:buClr>
                <a:srgbClr val="FFFFFF"/>
              </a:buClr>
              <a:buSzPts val="1800"/>
              <a:buChar char="•"/>
            </a:pPr>
            <a:r>
              <a:rPr lang="en-US">
                <a:solidFill>
                  <a:srgbClr val="FFFFFF"/>
                </a:solidFill>
              </a:rPr>
              <a:t>Input validation/</a:t>
            </a:r>
            <a:r>
              <a:rPr lang="en-US"/>
              <a:t>Sanitization</a:t>
            </a:r>
            <a:r>
              <a:rPr lang="en-US">
                <a:solidFill>
                  <a:srgbClr val="FFFFFF"/>
                </a:solidFill>
              </a:rPr>
              <a:t>: STR-50-CPP ; IDS-06-J</a:t>
            </a:r>
            <a:endParaRPr>
              <a:solidFill>
                <a:srgbClr val="FFFFFF"/>
              </a:solidFill>
            </a:endParaRPr>
          </a:p>
          <a:p>
            <a:pPr indent="-203200" lvl="0" marL="228600" rtl="0" algn="l">
              <a:lnSpc>
                <a:spcPct val="90000"/>
              </a:lnSpc>
              <a:spcBef>
                <a:spcPts val="0"/>
              </a:spcBef>
              <a:spcAft>
                <a:spcPts val="0"/>
              </a:spcAft>
              <a:buClr>
                <a:srgbClr val="FFFFFF"/>
              </a:buClr>
              <a:buSzPts val="1800"/>
              <a:buChar char="•"/>
            </a:pPr>
            <a:r>
              <a:rPr lang="en-US">
                <a:solidFill>
                  <a:srgbClr val="FFFFFF"/>
                </a:solidFill>
              </a:rPr>
              <a:t>Least privilege: FIO-51-CPP</a:t>
            </a:r>
            <a:endParaRPr>
              <a:solidFill>
                <a:srgbClr val="FFFFFF"/>
              </a:solidFill>
            </a:endParaRPr>
          </a:p>
          <a:p>
            <a:pPr indent="-203200" lvl="0" marL="228600" rtl="0" algn="l">
              <a:lnSpc>
                <a:spcPct val="90000"/>
              </a:lnSpc>
              <a:spcBef>
                <a:spcPts val="0"/>
              </a:spcBef>
              <a:spcAft>
                <a:spcPts val="0"/>
              </a:spcAft>
              <a:buClr>
                <a:srgbClr val="FFFFFF"/>
              </a:buClr>
              <a:buSzPts val="1800"/>
              <a:buChar char="•"/>
            </a:pPr>
            <a:r>
              <a:rPr lang="en-US">
                <a:solidFill>
                  <a:srgbClr val="FFFFFF"/>
                </a:solidFill>
              </a:rPr>
              <a:t>Keeping it simple: MSC-11-C ; ERR-50-CPP</a:t>
            </a:r>
            <a:endParaRPr>
              <a:solidFill>
                <a:srgbClr val="FFFFFF"/>
              </a:solidFill>
            </a:endParaRPr>
          </a:p>
          <a:p>
            <a:pPr indent="-203200" lvl="0" marL="228600" rtl="0" algn="l">
              <a:lnSpc>
                <a:spcPct val="90000"/>
              </a:lnSpc>
              <a:spcBef>
                <a:spcPts val="0"/>
              </a:spcBef>
              <a:spcAft>
                <a:spcPts val="0"/>
              </a:spcAft>
              <a:buClr>
                <a:srgbClr val="FFFFFF"/>
              </a:buClr>
              <a:buSzPts val="1800"/>
              <a:buChar char="•"/>
            </a:pPr>
            <a:r>
              <a:rPr lang="en-US">
                <a:solidFill>
                  <a:srgbClr val="FFFFFF"/>
                </a:solidFill>
              </a:rPr>
              <a:t>Complete mediation: IDS-06-J ; FIO-51-CPP ; ERR-51-CPP</a:t>
            </a:r>
            <a:endParaRPr>
              <a:solidFill>
                <a:srgbClr val="FFFFFF"/>
              </a:solidFill>
            </a:endParaRPr>
          </a:p>
          <a:p>
            <a:pPr indent="-203200" lvl="0" marL="228600" rtl="0" algn="l">
              <a:lnSpc>
                <a:spcPct val="90000"/>
              </a:lnSpc>
              <a:spcBef>
                <a:spcPts val="0"/>
              </a:spcBef>
              <a:spcAft>
                <a:spcPts val="0"/>
              </a:spcAft>
              <a:buClr>
                <a:srgbClr val="FFFFFF"/>
              </a:buClr>
              <a:buSzPts val="1800"/>
              <a:buChar char="•"/>
            </a:pPr>
            <a:r>
              <a:rPr lang="en-US">
                <a:solidFill>
                  <a:srgbClr val="FFFFFF"/>
                </a:solidFill>
              </a:rPr>
              <a:t>Heed compiler warnings</a:t>
            </a:r>
            <a:endParaRPr>
              <a:solidFill>
                <a:srgbClr val="FFFFFF"/>
              </a:solidFill>
            </a:endParaRPr>
          </a:p>
          <a:p>
            <a:pPr indent="-203200" lvl="0" marL="228600" rtl="0" algn="l">
              <a:lnSpc>
                <a:spcPct val="90000"/>
              </a:lnSpc>
              <a:spcBef>
                <a:spcPts val="0"/>
              </a:spcBef>
              <a:spcAft>
                <a:spcPts val="0"/>
              </a:spcAft>
              <a:buClr>
                <a:srgbClr val="FFFFFF"/>
              </a:buClr>
              <a:buSzPts val="1800"/>
              <a:buChar char="•"/>
            </a:pPr>
            <a:r>
              <a:rPr lang="en-US">
                <a:solidFill>
                  <a:srgbClr val="FFFFFF"/>
                </a:solidFill>
              </a:rPr>
              <a:t>Architecture for security policies</a:t>
            </a:r>
            <a:endParaRPr>
              <a:solidFill>
                <a:srgbClr val="FFFFFF"/>
              </a:solidFill>
            </a:endParaRPr>
          </a:p>
          <a:p>
            <a:pPr indent="-203200" lvl="0" marL="228600" rtl="0" algn="l">
              <a:lnSpc>
                <a:spcPct val="90000"/>
              </a:lnSpc>
              <a:spcBef>
                <a:spcPts val="0"/>
              </a:spcBef>
              <a:spcAft>
                <a:spcPts val="0"/>
              </a:spcAft>
              <a:buClr>
                <a:srgbClr val="FFFFFF"/>
              </a:buClr>
              <a:buSzPts val="1800"/>
              <a:buChar char="•"/>
            </a:pPr>
            <a:r>
              <a:rPr lang="en-US">
                <a:solidFill>
                  <a:srgbClr val="FFFFFF"/>
                </a:solidFill>
              </a:rPr>
              <a:t>Default Deny/Secure By Default: STR-51-CPP ; </a:t>
            </a:r>
            <a:r>
              <a:rPr lang="en-US"/>
              <a:t>CTR-50-CPP ;MEM-51-CPP</a:t>
            </a:r>
            <a:endParaRPr>
              <a:solidFill>
                <a:srgbClr val="FFFFFF"/>
              </a:solidFill>
            </a:endParaRPr>
          </a:p>
          <a:p>
            <a:pPr indent="-203200" lvl="0" marL="228600" rtl="0" algn="l">
              <a:lnSpc>
                <a:spcPct val="90000"/>
              </a:lnSpc>
              <a:spcBef>
                <a:spcPts val="0"/>
              </a:spcBef>
              <a:spcAft>
                <a:spcPts val="0"/>
              </a:spcAft>
              <a:buClr>
                <a:srgbClr val="FFFFFF"/>
              </a:buClr>
              <a:buSzPts val="1800"/>
              <a:buChar char="•"/>
            </a:pPr>
            <a:r>
              <a:rPr lang="en-US">
                <a:solidFill>
                  <a:srgbClr val="FFFFFF"/>
                </a:solidFill>
              </a:rPr>
              <a:t>Defense in depth: STR-30-C ; ERR-51-CPP</a:t>
            </a:r>
            <a:endParaRPr>
              <a:solidFill>
                <a:srgbClr val="FFFFFF"/>
              </a:solidFill>
            </a:endParaRPr>
          </a:p>
          <a:p>
            <a:pPr indent="-203200" lvl="0" marL="228600" rtl="0" algn="l">
              <a:lnSpc>
                <a:spcPct val="90000"/>
              </a:lnSpc>
              <a:spcBef>
                <a:spcPts val="0"/>
              </a:spcBef>
              <a:spcAft>
                <a:spcPts val="0"/>
              </a:spcAft>
              <a:buClr>
                <a:srgbClr val="FFFFFF"/>
              </a:buClr>
              <a:buSzPts val="1800"/>
              <a:buChar char="•"/>
            </a:pPr>
            <a:r>
              <a:rPr lang="en-US">
                <a:solidFill>
                  <a:srgbClr val="FFFFFF"/>
                </a:solidFill>
              </a:rPr>
              <a:t>Quality assurance</a:t>
            </a:r>
            <a:endParaRPr>
              <a:solidFill>
                <a:srgbClr val="FFFFFF"/>
              </a:solidFill>
            </a:endParaRPr>
          </a:p>
          <a:p>
            <a:pPr indent="-203200" lvl="0" marL="228600" rtl="0" algn="l">
              <a:lnSpc>
                <a:spcPct val="90000"/>
              </a:lnSpc>
              <a:spcBef>
                <a:spcPts val="0"/>
              </a:spcBef>
              <a:spcAft>
                <a:spcPts val="0"/>
              </a:spcAft>
              <a:buClr>
                <a:srgbClr val="FFFFFF"/>
              </a:buClr>
              <a:buSzPts val="1800"/>
              <a:buChar char="•"/>
            </a:pPr>
            <a:r>
              <a:rPr lang="en-US">
                <a:solidFill>
                  <a:srgbClr val="FFFFFF"/>
                </a:solidFill>
              </a:rPr>
              <a:t>Adopting standards</a:t>
            </a:r>
            <a:endParaRPr>
              <a:solidFill>
                <a:srgbClr val="FFFFFF"/>
              </a:solidFill>
            </a:endParaRPr>
          </a:p>
          <a:p>
            <a:pPr indent="-203200" lvl="0" marL="228600" rtl="0" algn="l">
              <a:lnSpc>
                <a:spcPct val="90000"/>
              </a:lnSpc>
              <a:spcBef>
                <a:spcPts val="0"/>
              </a:spcBef>
              <a:spcAft>
                <a:spcPts val="0"/>
              </a:spcAft>
              <a:buClr>
                <a:srgbClr val="FFFFFF"/>
              </a:buClr>
              <a:buSzPts val="1800"/>
              <a:buChar char="•"/>
            </a:pPr>
            <a:r>
              <a:rPr lang="en-US">
                <a:solidFill>
                  <a:srgbClr val="FFFFFF"/>
                </a:solidFill>
              </a:rPr>
              <a:t>Open design: MSC-11-C</a:t>
            </a:r>
            <a:endParaRPr>
              <a:solidFill>
                <a:srgbClr val="FFFFFF"/>
              </a:solidFill>
            </a:endParaRPr>
          </a:p>
        </p:txBody>
      </p:sp>
      <p:pic>
        <p:nvPicPr>
          <p:cNvPr descr="Green Pace logo" id="176" name="Google Shape;176;p5"/>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transition spd="med">
    <p:fade thruBlk="1"/>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6"/>
          <p:cNvSpPr txBox="1"/>
          <p:nvPr>
            <p:ph type="title"/>
          </p:nvPr>
        </p:nvSpPr>
        <p:spPr>
          <a:xfrm>
            <a:off x="8925000" y="457200"/>
            <a:ext cx="3267000" cy="129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CODING STANDARDS</a:t>
            </a:r>
            <a:endParaRPr/>
          </a:p>
        </p:txBody>
      </p:sp>
      <p:sp>
        <p:nvSpPr>
          <p:cNvPr id="182" name="Google Shape;182;p6"/>
          <p:cNvSpPr txBox="1"/>
          <p:nvPr>
            <p:ph idx="1" type="body"/>
          </p:nvPr>
        </p:nvSpPr>
        <p:spPr>
          <a:xfrm>
            <a:off x="0" y="3545400"/>
            <a:ext cx="7017600" cy="3312600"/>
          </a:xfrm>
          <a:prstGeom prst="rect">
            <a:avLst/>
          </a:prstGeom>
          <a:noFill/>
          <a:ln>
            <a:noFill/>
          </a:ln>
        </p:spPr>
        <p:txBody>
          <a:bodyPr anchorCtr="0" anchor="t" bIns="45700" lIns="91425" spcFirstLastPara="1" rIns="91425" wrap="square" tIns="45700">
            <a:normAutofit/>
          </a:bodyPr>
          <a:lstStyle/>
          <a:p>
            <a:pPr indent="0" lvl="0" marL="457200" rtl="0" algn="l">
              <a:lnSpc>
                <a:spcPct val="90000"/>
              </a:lnSpc>
              <a:spcBef>
                <a:spcPts val="0"/>
              </a:spcBef>
              <a:spcAft>
                <a:spcPts val="0"/>
              </a:spcAft>
              <a:buNone/>
            </a:pPr>
            <a:r>
              <a:rPr lang="en-US" sz="2000"/>
              <a:t>EXAMPLES</a:t>
            </a:r>
            <a:endParaRPr sz="2000"/>
          </a:p>
          <a:p>
            <a:pPr indent="0" lvl="0" marL="457200" rtl="0" algn="l">
              <a:lnSpc>
                <a:spcPct val="90000"/>
              </a:lnSpc>
              <a:spcBef>
                <a:spcPts val="0"/>
              </a:spcBef>
              <a:spcAft>
                <a:spcPts val="0"/>
              </a:spcAft>
              <a:buNone/>
            </a:pPr>
            <a:r>
              <a:t/>
            </a:r>
            <a:endParaRPr sz="2000"/>
          </a:p>
          <a:p>
            <a:pPr indent="0" lvl="0" marL="457200" rtl="0" algn="l">
              <a:lnSpc>
                <a:spcPct val="90000"/>
              </a:lnSpc>
              <a:spcBef>
                <a:spcPts val="0"/>
              </a:spcBef>
              <a:spcAft>
                <a:spcPts val="0"/>
              </a:spcAft>
              <a:buNone/>
            </a:pPr>
            <a:r>
              <a:t/>
            </a:r>
            <a:endParaRPr sz="2000"/>
          </a:p>
          <a:p>
            <a:pPr indent="-228600" lvl="0" marL="228600" rtl="0" algn="l">
              <a:lnSpc>
                <a:spcPct val="90000"/>
              </a:lnSpc>
              <a:spcBef>
                <a:spcPts val="0"/>
              </a:spcBef>
              <a:spcAft>
                <a:spcPts val="0"/>
              </a:spcAft>
              <a:buClr>
                <a:schemeClr val="lt1"/>
              </a:buClr>
              <a:buSzPts val="2000"/>
              <a:buChar char="•"/>
            </a:pPr>
            <a:r>
              <a:rPr lang="en-US" sz="2000"/>
              <a:t>STR-50-CPP → high severity, high priority = big issue</a:t>
            </a:r>
            <a:endParaRPr sz="2000"/>
          </a:p>
          <a:p>
            <a:pPr indent="0" lvl="0" marL="0" rtl="0" algn="l">
              <a:lnSpc>
                <a:spcPct val="90000"/>
              </a:lnSpc>
              <a:spcBef>
                <a:spcPts val="0"/>
              </a:spcBef>
              <a:spcAft>
                <a:spcPts val="0"/>
              </a:spcAft>
              <a:buNone/>
            </a:pPr>
            <a:r>
              <a:t/>
            </a:r>
            <a:endParaRPr sz="2000"/>
          </a:p>
          <a:p>
            <a:pPr indent="0" lvl="0" marL="0" rtl="0" algn="l">
              <a:lnSpc>
                <a:spcPct val="90000"/>
              </a:lnSpc>
              <a:spcBef>
                <a:spcPts val="0"/>
              </a:spcBef>
              <a:spcAft>
                <a:spcPts val="0"/>
              </a:spcAft>
              <a:buNone/>
            </a:pPr>
            <a:r>
              <a:t/>
            </a:r>
            <a:endParaRPr sz="2000"/>
          </a:p>
          <a:p>
            <a:pPr indent="0" lvl="0" marL="0" rtl="0" algn="l">
              <a:lnSpc>
                <a:spcPct val="90000"/>
              </a:lnSpc>
              <a:spcBef>
                <a:spcPts val="0"/>
              </a:spcBef>
              <a:spcAft>
                <a:spcPts val="0"/>
              </a:spcAft>
              <a:buNone/>
            </a:pPr>
            <a:r>
              <a:t/>
            </a:r>
            <a:endParaRPr sz="2000"/>
          </a:p>
          <a:p>
            <a:pPr indent="0" lvl="0" marL="0" rtl="0" algn="l">
              <a:lnSpc>
                <a:spcPct val="90000"/>
              </a:lnSpc>
              <a:spcBef>
                <a:spcPts val="0"/>
              </a:spcBef>
              <a:spcAft>
                <a:spcPts val="0"/>
              </a:spcAft>
              <a:buNone/>
            </a:pPr>
            <a:r>
              <a:t/>
            </a:r>
            <a:endParaRPr sz="2000"/>
          </a:p>
          <a:p>
            <a:pPr indent="-228600" lvl="0" marL="228600" rtl="0" algn="l">
              <a:lnSpc>
                <a:spcPct val="90000"/>
              </a:lnSpc>
              <a:spcBef>
                <a:spcPts val="0"/>
              </a:spcBef>
              <a:spcAft>
                <a:spcPts val="0"/>
              </a:spcAft>
              <a:buSzPts val="2000"/>
              <a:buChar char="•"/>
            </a:pPr>
            <a:r>
              <a:rPr lang="en-US" sz="2000"/>
              <a:t>ERR-50-CPP → low severity, low priority = reasonable fix and easy to handle</a:t>
            </a:r>
            <a:endParaRPr sz="2000"/>
          </a:p>
        </p:txBody>
      </p:sp>
      <p:pic>
        <p:nvPicPr>
          <p:cNvPr descr="Green Pace logo" id="183" name="Google Shape;183;p6"/>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pic>
        <p:nvPicPr>
          <p:cNvPr id="184" name="Google Shape;184;p6"/>
          <p:cNvPicPr preferRelativeResize="0"/>
          <p:nvPr/>
        </p:nvPicPr>
        <p:blipFill>
          <a:blip r:embed="rId4">
            <a:alphaModFix/>
          </a:blip>
          <a:stretch>
            <a:fillRect/>
          </a:stretch>
        </p:blipFill>
        <p:spPr>
          <a:xfrm>
            <a:off x="0" y="0"/>
            <a:ext cx="9125849" cy="3429000"/>
          </a:xfrm>
          <a:prstGeom prst="rect">
            <a:avLst/>
          </a:prstGeom>
          <a:noFill/>
          <a:ln>
            <a:noFill/>
          </a:ln>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7"/>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ENCRYPTION POLICIES</a:t>
            </a:r>
            <a:endParaRPr/>
          </a:p>
        </p:txBody>
      </p:sp>
      <p:sp>
        <p:nvSpPr>
          <p:cNvPr id="190" name="Google Shape;190;p7"/>
          <p:cNvSpPr txBox="1"/>
          <p:nvPr>
            <p:ph idx="1" type="body"/>
          </p:nvPr>
        </p:nvSpPr>
        <p:spPr>
          <a:xfrm>
            <a:off x="685800" y="1781585"/>
            <a:ext cx="10820400" cy="4024200"/>
          </a:xfrm>
          <a:prstGeom prst="rect">
            <a:avLst/>
          </a:prstGeom>
          <a:noFill/>
          <a:ln>
            <a:noFill/>
          </a:ln>
        </p:spPr>
        <p:txBody>
          <a:bodyPr anchorCtr="0" anchor="t" bIns="45700" lIns="91425" spcFirstLastPara="1" rIns="91425" wrap="square" tIns="45700">
            <a:normAutofit fontScale="25000" lnSpcReduction="20000"/>
          </a:bodyPr>
          <a:lstStyle/>
          <a:p>
            <a:pPr indent="-364418" lvl="0" marL="457200" rtl="0" algn="l">
              <a:lnSpc>
                <a:spcPct val="100000"/>
              </a:lnSpc>
              <a:spcBef>
                <a:spcPts val="0"/>
              </a:spcBef>
              <a:spcAft>
                <a:spcPts val="0"/>
              </a:spcAft>
              <a:buSzPct val="100000"/>
              <a:buFont typeface="Times New Roman"/>
              <a:buChar char="•"/>
            </a:pPr>
            <a:r>
              <a:rPr lang="en-US" sz="8555">
                <a:latin typeface="Times New Roman"/>
                <a:ea typeface="Times New Roman"/>
                <a:cs typeface="Times New Roman"/>
                <a:sym typeface="Times New Roman"/>
              </a:rPr>
              <a:t>AT REST</a:t>
            </a:r>
            <a:endParaRPr sz="8555">
              <a:latin typeface="Times New Roman"/>
              <a:ea typeface="Times New Roman"/>
              <a:cs typeface="Times New Roman"/>
              <a:sym typeface="Times New Roman"/>
            </a:endParaRPr>
          </a:p>
          <a:p>
            <a:pPr indent="-364418" lvl="1" marL="914400" rtl="0" algn="l">
              <a:lnSpc>
                <a:spcPct val="100000"/>
              </a:lnSpc>
              <a:spcBef>
                <a:spcPts val="0"/>
              </a:spcBef>
              <a:spcAft>
                <a:spcPts val="0"/>
              </a:spcAft>
              <a:buSzPct val="100000"/>
              <a:buFont typeface="Times New Roman"/>
              <a:buChar char="•"/>
            </a:pPr>
            <a:r>
              <a:rPr lang="en-US" sz="8555">
                <a:latin typeface="Times New Roman"/>
                <a:ea typeface="Times New Roman"/>
                <a:cs typeface="Times New Roman"/>
                <a:sym typeface="Times New Roman"/>
              </a:rPr>
              <a:t>Data:</a:t>
            </a:r>
            <a:endParaRPr sz="8555">
              <a:latin typeface="Times New Roman"/>
              <a:ea typeface="Times New Roman"/>
              <a:cs typeface="Times New Roman"/>
              <a:sym typeface="Times New Roman"/>
            </a:endParaRPr>
          </a:p>
          <a:p>
            <a:pPr indent="-364418" lvl="2" marL="1371600" rtl="0" algn="l">
              <a:lnSpc>
                <a:spcPct val="100000"/>
              </a:lnSpc>
              <a:spcBef>
                <a:spcPts val="0"/>
              </a:spcBef>
              <a:spcAft>
                <a:spcPts val="0"/>
              </a:spcAft>
              <a:buSzPct val="100000"/>
              <a:buFont typeface="Times New Roman"/>
              <a:buChar char="•"/>
            </a:pPr>
            <a:r>
              <a:rPr lang="en-US" sz="8555">
                <a:latin typeface="Times New Roman"/>
                <a:ea typeface="Times New Roman"/>
                <a:cs typeface="Times New Roman"/>
                <a:sym typeface="Times New Roman"/>
              </a:rPr>
              <a:t> user </a:t>
            </a:r>
            <a:r>
              <a:rPr lang="en-US" sz="8555">
                <a:latin typeface="Times New Roman"/>
                <a:ea typeface="Times New Roman"/>
                <a:cs typeface="Times New Roman"/>
                <a:sym typeface="Times New Roman"/>
              </a:rPr>
              <a:t>information</a:t>
            </a:r>
            <a:endParaRPr sz="8555">
              <a:latin typeface="Times New Roman"/>
              <a:ea typeface="Times New Roman"/>
              <a:cs typeface="Times New Roman"/>
              <a:sym typeface="Times New Roman"/>
            </a:endParaRPr>
          </a:p>
          <a:p>
            <a:pPr indent="-364418" lvl="2" marL="1371600" rtl="0" algn="l">
              <a:lnSpc>
                <a:spcPct val="100000"/>
              </a:lnSpc>
              <a:spcBef>
                <a:spcPts val="0"/>
              </a:spcBef>
              <a:spcAft>
                <a:spcPts val="0"/>
              </a:spcAft>
              <a:buSzPct val="100000"/>
              <a:buFont typeface="Times New Roman"/>
              <a:buChar char="•"/>
            </a:pPr>
            <a:r>
              <a:rPr lang="en-US" sz="8555">
                <a:latin typeface="Times New Roman"/>
                <a:ea typeface="Times New Roman"/>
                <a:cs typeface="Times New Roman"/>
                <a:sym typeface="Times New Roman"/>
              </a:rPr>
              <a:t> files</a:t>
            </a:r>
            <a:endParaRPr sz="8555">
              <a:latin typeface="Times New Roman"/>
              <a:ea typeface="Times New Roman"/>
              <a:cs typeface="Times New Roman"/>
              <a:sym typeface="Times New Roman"/>
            </a:endParaRPr>
          </a:p>
          <a:p>
            <a:pPr indent="-364418" lvl="2" marL="1371600" rtl="0" algn="l">
              <a:lnSpc>
                <a:spcPct val="100000"/>
              </a:lnSpc>
              <a:spcBef>
                <a:spcPts val="0"/>
              </a:spcBef>
              <a:spcAft>
                <a:spcPts val="0"/>
              </a:spcAft>
              <a:buSzPct val="100000"/>
              <a:buFont typeface="Times New Roman"/>
              <a:buChar char="•"/>
            </a:pPr>
            <a:r>
              <a:rPr lang="en-US" sz="8555">
                <a:latin typeface="Times New Roman"/>
                <a:ea typeface="Times New Roman"/>
                <a:cs typeface="Times New Roman"/>
                <a:sym typeface="Times New Roman"/>
              </a:rPr>
              <a:t>databases</a:t>
            </a:r>
            <a:endParaRPr sz="8555">
              <a:latin typeface="Times New Roman"/>
              <a:ea typeface="Times New Roman"/>
              <a:cs typeface="Times New Roman"/>
              <a:sym typeface="Times New Roman"/>
            </a:endParaRPr>
          </a:p>
          <a:p>
            <a:pPr indent="-364418" lvl="2" marL="1371600" rtl="0" algn="l">
              <a:lnSpc>
                <a:spcPct val="100000"/>
              </a:lnSpc>
              <a:spcBef>
                <a:spcPts val="0"/>
              </a:spcBef>
              <a:spcAft>
                <a:spcPts val="0"/>
              </a:spcAft>
              <a:buSzPct val="100000"/>
              <a:buFont typeface="Times New Roman"/>
              <a:buChar char="•"/>
            </a:pPr>
            <a:r>
              <a:rPr lang="en-US" sz="8555">
                <a:latin typeface="Times New Roman"/>
                <a:ea typeface="Times New Roman"/>
                <a:cs typeface="Times New Roman"/>
                <a:sym typeface="Times New Roman"/>
              </a:rPr>
              <a:t>cloud storage</a:t>
            </a:r>
            <a:endParaRPr sz="8555">
              <a:latin typeface="Times New Roman"/>
              <a:ea typeface="Times New Roman"/>
              <a:cs typeface="Times New Roman"/>
              <a:sym typeface="Times New Roman"/>
            </a:endParaRPr>
          </a:p>
          <a:p>
            <a:pPr indent="-364418" lvl="1" marL="914400" rtl="0" algn="l">
              <a:lnSpc>
                <a:spcPct val="100000"/>
              </a:lnSpc>
              <a:spcBef>
                <a:spcPts val="0"/>
              </a:spcBef>
              <a:spcAft>
                <a:spcPts val="0"/>
              </a:spcAft>
              <a:buSzPct val="100000"/>
              <a:buFont typeface="Times New Roman"/>
              <a:buChar char="•"/>
            </a:pPr>
            <a:r>
              <a:rPr lang="en-US" sz="8555">
                <a:latin typeface="Times New Roman"/>
                <a:ea typeface="Times New Roman"/>
                <a:cs typeface="Times New Roman"/>
                <a:sym typeface="Times New Roman"/>
              </a:rPr>
              <a:t>Symmetrical algorithms</a:t>
            </a:r>
            <a:endParaRPr sz="8555">
              <a:latin typeface="Times New Roman"/>
              <a:ea typeface="Times New Roman"/>
              <a:cs typeface="Times New Roman"/>
              <a:sym typeface="Times New Roman"/>
            </a:endParaRPr>
          </a:p>
          <a:p>
            <a:pPr indent="-378705" lvl="0" marL="457200" rtl="0" algn="l">
              <a:lnSpc>
                <a:spcPct val="100000"/>
              </a:lnSpc>
              <a:spcBef>
                <a:spcPts val="0"/>
              </a:spcBef>
              <a:spcAft>
                <a:spcPts val="0"/>
              </a:spcAft>
              <a:buSzPct val="110520"/>
              <a:buFont typeface="Times New Roman"/>
              <a:buChar char="•"/>
            </a:pPr>
            <a:r>
              <a:rPr lang="en-US" sz="8555">
                <a:latin typeface="Times New Roman"/>
                <a:ea typeface="Times New Roman"/>
                <a:cs typeface="Times New Roman"/>
                <a:sym typeface="Times New Roman"/>
              </a:rPr>
              <a:t>IN FLIGHT/TRANSIT</a:t>
            </a:r>
            <a:endParaRPr sz="8555">
              <a:latin typeface="Times New Roman"/>
              <a:ea typeface="Times New Roman"/>
              <a:cs typeface="Times New Roman"/>
              <a:sym typeface="Times New Roman"/>
            </a:endParaRPr>
          </a:p>
          <a:p>
            <a:pPr indent="-364418" lvl="1" marL="914400" rtl="0" algn="l">
              <a:lnSpc>
                <a:spcPct val="100000"/>
              </a:lnSpc>
              <a:spcBef>
                <a:spcPts val="0"/>
              </a:spcBef>
              <a:spcAft>
                <a:spcPts val="0"/>
              </a:spcAft>
              <a:buSzPct val="100000"/>
              <a:buFont typeface="Times New Roman"/>
              <a:buChar char="•"/>
            </a:pPr>
            <a:r>
              <a:rPr lang="en-US" sz="8555">
                <a:latin typeface="Times New Roman"/>
                <a:ea typeface="Times New Roman"/>
                <a:cs typeface="Times New Roman"/>
                <a:sym typeface="Times New Roman"/>
              </a:rPr>
              <a:t>Data:</a:t>
            </a:r>
            <a:endParaRPr sz="8555">
              <a:latin typeface="Times New Roman"/>
              <a:ea typeface="Times New Roman"/>
              <a:cs typeface="Times New Roman"/>
              <a:sym typeface="Times New Roman"/>
            </a:endParaRPr>
          </a:p>
          <a:p>
            <a:pPr indent="-364418" lvl="2" marL="1371600" rtl="0" algn="l">
              <a:lnSpc>
                <a:spcPct val="100000"/>
              </a:lnSpc>
              <a:spcBef>
                <a:spcPts val="0"/>
              </a:spcBef>
              <a:spcAft>
                <a:spcPts val="0"/>
              </a:spcAft>
              <a:buSzPct val="100000"/>
              <a:buFont typeface="Times New Roman"/>
              <a:buChar char="•"/>
            </a:pPr>
            <a:r>
              <a:rPr lang="en-US" sz="8555">
                <a:latin typeface="Times New Roman"/>
                <a:ea typeface="Times New Roman"/>
                <a:cs typeface="Times New Roman"/>
                <a:sym typeface="Times New Roman"/>
              </a:rPr>
              <a:t>Text messaging</a:t>
            </a:r>
            <a:endParaRPr sz="8555">
              <a:latin typeface="Times New Roman"/>
              <a:ea typeface="Times New Roman"/>
              <a:cs typeface="Times New Roman"/>
              <a:sym typeface="Times New Roman"/>
            </a:endParaRPr>
          </a:p>
          <a:p>
            <a:pPr indent="-364418" lvl="2" marL="1371600" rtl="0" algn="l">
              <a:lnSpc>
                <a:spcPct val="100000"/>
              </a:lnSpc>
              <a:spcBef>
                <a:spcPts val="0"/>
              </a:spcBef>
              <a:spcAft>
                <a:spcPts val="0"/>
              </a:spcAft>
              <a:buSzPct val="100000"/>
              <a:buFont typeface="Times New Roman"/>
              <a:buChar char="•"/>
            </a:pPr>
            <a:r>
              <a:rPr lang="en-US" sz="8555">
                <a:latin typeface="Times New Roman"/>
                <a:ea typeface="Times New Roman"/>
                <a:cs typeface="Times New Roman"/>
                <a:sym typeface="Times New Roman"/>
              </a:rPr>
              <a:t>emails</a:t>
            </a:r>
            <a:endParaRPr sz="8555">
              <a:latin typeface="Times New Roman"/>
              <a:ea typeface="Times New Roman"/>
              <a:cs typeface="Times New Roman"/>
              <a:sym typeface="Times New Roman"/>
            </a:endParaRPr>
          </a:p>
          <a:p>
            <a:pPr indent="-364418" lvl="2" marL="1371600" rtl="0" algn="l">
              <a:lnSpc>
                <a:spcPct val="100000"/>
              </a:lnSpc>
              <a:spcBef>
                <a:spcPts val="0"/>
              </a:spcBef>
              <a:spcAft>
                <a:spcPts val="0"/>
              </a:spcAft>
              <a:buSzPct val="100000"/>
              <a:buFont typeface="Times New Roman"/>
              <a:buChar char="•"/>
            </a:pPr>
            <a:r>
              <a:rPr lang="en-US" sz="8555">
                <a:latin typeface="Times New Roman"/>
                <a:ea typeface="Times New Roman"/>
                <a:cs typeface="Times New Roman"/>
                <a:sym typeface="Times New Roman"/>
              </a:rPr>
              <a:t>patch deployment</a:t>
            </a:r>
            <a:endParaRPr sz="8555">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8555">
              <a:latin typeface="Times New Roman"/>
              <a:ea typeface="Times New Roman"/>
              <a:cs typeface="Times New Roman"/>
              <a:sym typeface="Times New Roman"/>
            </a:endParaRPr>
          </a:p>
          <a:p>
            <a:pPr indent="-378705" lvl="0" marL="457200" rtl="0" algn="l">
              <a:lnSpc>
                <a:spcPct val="100000"/>
              </a:lnSpc>
              <a:spcBef>
                <a:spcPts val="0"/>
              </a:spcBef>
              <a:spcAft>
                <a:spcPts val="0"/>
              </a:spcAft>
              <a:buSzPct val="110520"/>
              <a:buFont typeface="Times New Roman"/>
              <a:buChar char="•"/>
            </a:pPr>
            <a:r>
              <a:rPr lang="en-US" sz="8555">
                <a:latin typeface="Times New Roman"/>
                <a:ea typeface="Times New Roman"/>
                <a:cs typeface="Times New Roman"/>
                <a:sym typeface="Times New Roman"/>
              </a:rPr>
              <a:t>IN USE</a:t>
            </a:r>
            <a:endParaRPr sz="8555">
              <a:latin typeface="Times New Roman"/>
              <a:ea typeface="Times New Roman"/>
              <a:cs typeface="Times New Roman"/>
              <a:sym typeface="Times New Roman"/>
            </a:endParaRPr>
          </a:p>
          <a:p>
            <a:pPr indent="-378705" lvl="1" marL="914400" rtl="0" algn="l">
              <a:lnSpc>
                <a:spcPct val="100000"/>
              </a:lnSpc>
              <a:spcBef>
                <a:spcPts val="0"/>
              </a:spcBef>
              <a:spcAft>
                <a:spcPts val="0"/>
              </a:spcAft>
              <a:buSzPct val="110520"/>
              <a:buFont typeface="Times New Roman"/>
              <a:buChar char="•"/>
            </a:pPr>
            <a:r>
              <a:rPr lang="en-US" sz="8555">
                <a:latin typeface="Times New Roman"/>
                <a:ea typeface="Times New Roman"/>
                <a:cs typeface="Times New Roman"/>
                <a:sym typeface="Times New Roman"/>
              </a:rPr>
              <a:t>Any sensitive data being used in memory</a:t>
            </a:r>
            <a:endParaRPr sz="8555">
              <a:latin typeface="Times New Roman"/>
              <a:ea typeface="Times New Roman"/>
              <a:cs typeface="Times New Roman"/>
              <a:sym typeface="Times New Roman"/>
            </a:endParaRPr>
          </a:p>
          <a:p>
            <a:pPr indent="0" lvl="0" marL="457200" rtl="0" algn="l">
              <a:lnSpc>
                <a:spcPct val="90000"/>
              </a:lnSpc>
              <a:spcBef>
                <a:spcPts val="0"/>
              </a:spcBef>
              <a:spcAft>
                <a:spcPts val="0"/>
              </a:spcAft>
              <a:buNone/>
            </a:pPr>
            <a:r>
              <a:t/>
            </a:r>
            <a:endParaRPr sz="2000"/>
          </a:p>
          <a:p>
            <a:pPr indent="0" lvl="0" marL="0" rtl="0" algn="l">
              <a:lnSpc>
                <a:spcPct val="90000"/>
              </a:lnSpc>
              <a:spcBef>
                <a:spcPts val="1000"/>
              </a:spcBef>
              <a:spcAft>
                <a:spcPts val="0"/>
              </a:spcAft>
              <a:buClr>
                <a:schemeClr val="lt1"/>
              </a:buClr>
              <a:buSzPct val="100000"/>
              <a:buNone/>
            </a:pPr>
            <a:r>
              <a:t/>
            </a:r>
            <a:endParaRPr sz="1600"/>
          </a:p>
          <a:p>
            <a:pPr indent="-88900" lvl="0" marL="228600" rtl="0" algn="l">
              <a:lnSpc>
                <a:spcPct val="90000"/>
              </a:lnSpc>
              <a:spcBef>
                <a:spcPts val="1000"/>
              </a:spcBef>
              <a:spcAft>
                <a:spcPts val="0"/>
              </a:spcAft>
              <a:buClr>
                <a:schemeClr val="lt1"/>
              </a:buClr>
              <a:buSzPct val="100000"/>
              <a:buNone/>
            </a:pPr>
            <a:r>
              <a:t/>
            </a:r>
            <a:endParaRPr/>
          </a:p>
        </p:txBody>
      </p:sp>
      <p:pic>
        <p:nvPicPr>
          <p:cNvPr descr="Green Pace logo" id="191" name="Google Shape;191;p7"/>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8"/>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TRIPLE-A POLICIES</a:t>
            </a:r>
            <a:endParaRPr/>
          </a:p>
        </p:txBody>
      </p:sp>
      <p:sp>
        <p:nvSpPr>
          <p:cNvPr id="197" name="Google Shape;197;p8"/>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fontScale="47500" lnSpcReduction="20000"/>
          </a:bodyPr>
          <a:lstStyle/>
          <a:p>
            <a:pPr indent="0" lvl="0" marL="0" rtl="0" algn="l">
              <a:lnSpc>
                <a:spcPct val="100000"/>
              </a:lnSpc>
              <a:spcBef>
                <a:spcPts val="0"/>
              </a:spcBef>
              <a:spcAft>
                <a:spcPts val="0"/>
              </a:spcAft>
              <a:buNone/>
            </a:pPr>
            <a:r>
              <a:t/>
            </a:r>
            <a:endParaRPr sz="3764">
              <a:latin typeface="Calibri"/>
              <a:ea typeface="Calibri"/>
              <a:cs typeface="Calibri"/>
              <a:sym typeface="Calibri"/>
            </a:endParaRPr>
          </a:p>
          <a:p>
            <a:pPr indent="-342136" lvl="0" marL="457200" rtl="0" algn="l">
              <a:lnSpc>
                <a:spcPct val="100000"/>
              </a:lnSpc>
              <a:spcBef>
                <a:spcPts val="0"/>
              </a:spcBef>
              <a:spcAft>
                <a:spcPts val="0"/>
              </a:spcAft>
              <a:buSzPct val="100000"/>
              <a:buFont typeface="Calibri"/>
              <a:buChar char="•"/>
            </a:pPr>
            <a:r>
              <a:rPr lang="en-US" sz="3764">
                <a:latin typeface="Calibri"/>
                <a:ea typeface="Calibri"/>
                <a:cs typeface="Calibri"/>
                <a:sym typeface="Calibri"/>
              </a:rPr>
              <a:t>Authentication is the WHO?</a:t>
            </a:r>
            <a:endParaRPr sz="3764">
              <a:latin typeface="Calibri"/>
              <a:ea typeface="Calibri"/>
              <a:cs typeface="Calibri"/>
              <a:sym typeface="Calibri"/>
            </a:endParaRPr>
          </a:p>
          <a:p>
            <a:pPr indent="-342136" lvl="1" marL="914400" rtl="0" algn="l">
              <a:lnSpc>
                <a:spcPct val="100000"/>
              </a:lnSpc>
              <a:spcBef>
                <a:spcPts val="0"/>
              </a:spcBef>
              <a:spcAft>
                <a:spcPts val="0"/>
              </a:spcAft>
              <a:buSzPct val="100000"/>
              <a:buFont typeface="Calibri"/>
              <a:buChar char="•"/>
            </a:pPr>
            <a:r>
              <a:rPr lang="en-US" sz="3764">
                <a:latin typeface="Calibri"/>
                <a:ea typeface="Calibri"/>
                <a:cs typeface="Calibri"/>
                <a:sym typeface="Calibri"/>
              </a:rPr>
              <a:t>username login</a:t>
            </a:r>
            <a:endParaRPr sz="3764">
              <a:latin typeface="Calibri"/>
              <a:ea typeface="Calibri"/>
              <a:cs typeface="Calibri"/>
              <a:sym typeface="Calibri"/>
            </a:endParaRPr>
          </a:p>
          <a:p>
            <a:pPr indent="-342136" lvl="1" marL="914400" rtl="0" algn="l">
              <a:lnSpc>
                <a:spcPct val="100000"/>
              </a:lnSpc>
              <a:spcBef>
                <a:spcPts val="0"/>
              </a:spcBef>
              <a:spcAft>
                <a:spcPts val="0"/>
              </a:spcAft>
              <a:buSzPct val="100000"/>
              <a:buFont typeface="Calibri"/>
              <a:buChar char="•"/>
            </a:pPr>
            <a:r>
              <a:rPr lang="en-US" sz="3764">
                <a:latin typeface="Calibri"/>
                <a:ea typeface="Calibri"/>
                <a:cs typeface="Calibri"/>
                <a:sym typeface="Calibri"/>
              </a:rPr>
              <a:t>certificate checking in website requests</a:t>
            </a:r>
            <a:endParaRPr sz="3764">
              <a:latin typeface="Calibri"/>
              <a:ea typeface="Calibri"/>
              <a:cs typeface="Calibri"/>
              <a:sym typeface="Calibri"/>
            </a:endParaRPr>
          </a:p>
          <a:p>
            <a:pPr indent="-342136" lvl="1" marL="914400" rtl="0" algn="l">
              <a:lnSpc>
                <a:spcPct val="100000"/>
              </a:lnSpc>
              <a:spcBef>
                <a:spcPts val="0"/>
              </a:spcBef>
              <a:spcAft>
                <a:spcPts val="0"/>
              </a:spcAft>
              <a:buSzPct val="100000"/>
              <a:buFont typeface="Calibri"/>
              <a:buChar char="•"/>
            </a:pPr>
            <a:r>
              <a:rPr lang="en-US" sz="3764">
                <a:latin typeface="Calibri"/>
                <a:ea typeface="Calibri"/>
                <a:cs typeface="Calibri"/>
                <a:sym typeface="Calibri"/>
              </a:rPr>
              <a:t>IP address tracing</a:t>
            </a:r>
            <a:endParaRPr sz="3764">
              <a:latin typeface="Calibri"/>
              <a:ea typeface="Calibri"/>
              <a:cs typeface="Calibri"/>
              <a:sym typeface="Calibri"/>
            </a:endParaRPr>
          </a:p>
          <a:p>
            <a:pPr indent="0" lvl="0" marL="457200" rtl="0" algn="l">
              <a:lnSpc>
                <a:spcPct val="100000"/>
              </a:lnSpc>
              <a:spcBef>
                <a:spcPts val="0"/>
              </a:spcBef>
              <a:spcAft>
                <a:spcPts val="0"/>
              </a:spcAft>
              <a:buNone/>
            </a:pPr>
            <a:r>
              <a:t/>
            </a:r>
            <a:endParaRPr sz="3764">
              <a:latin typeface="Calibri"/>
              <a:ea typeface="Calibri"/>
              <a:cs typeface="Calibri"/>
              <a:sym typeface="Calibri"/>
            </a:endParaRPr>
          </a:p>
          <a:p>
            <a:pPr indent="-342136" lvl="0" marL="457200" rtl="0" algn="l">
              <a:lnSpc>
                <a:spcPct val="100000"/>
              </a:lnSpc>
              <a:spcBef>
                <a:spcPts val="0"/>
              </a:spcBef>
              <a:spcAft>
                <a:spcPts val="0"/>
              </a:spcAft>
              <a:buSzPct val="100000"/>
              <a:buFont typeface="Calibri"/>
              <a:buChar char="•"/>
            </a:pPr>
            <a:r>
              <a:rPr lang="en-US" sz="3764">
                <a:latin typeface="Calibri"/>
                <a:ea typeface="Calibri"/>
                <a:cs typeface="Calibri"/>
                <a:sym typeface="Calibri"/>
              </a:rPr>
              <a:t>Authorization is the WHAT?</a:t>
            </a:r>
            <a:endParaRPr sz="3764">
              <a:latin typeface="Calibri"/>
              <a:ea typeface="Calibri"/>
              <a:cs typeface="Calibri"/>
              <a:sym typeface="Calibri"/>
            </a:endParaRPr>
          </a:p>
          <a:p>
            <a:pPr indent="-342136" lvl="1" marL="914400" rtl="0" algn="l">
              <a:lnSpc>
                <a:spcPct val="100000"/>
              </a:lnSpc>
              <a:spcBef>
                <a:spcPts val="0"/>
              </a:spcBef>
              <a:spcAft>
                <a:spcPts val="0"/>
              </a:spcAft>
              <a:buSzPct val="100000"/>
              <a:buFont typeface="Calibri"/>
              <a:buChar char="•"/>
            </a:pPr>
            <a:r>
              <a:rPr lang="en-US" sz="3764">
                <a:latin typeface="Calibri"/>
                <a:ea typeface="Calibri"/>
                <a:cs typeface="Calibri"/>
                <a:sym typeface="Calibri"/>
              </a:rPr>
              <a:t>File accessing</a:t>
            </a:r>
            <a:endParaRPr sz="3764">
              <a:latin typeface="Calibri"/>
              <a:ea typeface="Calibri"/>
              <a:cs typeface="Calibri"/>
              <a:sym typeface="Calibri"/>
            </a:endParaRPr>
          </a:p>
          <a:p>
            <a:pPr indent="-342136" lvl="1" marL="914400" rtl="0" algn="l">
              <a:lnSpc>
                <a:spcPct val="100000"/>
              </a:lnSpc>
              <a:spcBef>
                <a:spcPts val="0"/>
              </a:spcBef>
              <a:spcAft>
                <a:spcPts val="0"/>
              </a:spcAft>
              <a:buSzPct val="100000"/>
              <a:buFont typeface="Calibri"/>
              <a:buChar char="•"/>
            </a:pPr>
            <a:r>
              <a:rPr lang="en-US" sz="3764">
                <a:latin typeface="Calibri"/>
                <a:ea typeface="Calibri"/>
                <a:cs typeface="Calibri"/>
                <a:sym typeface="Calibri"/>
              </a:rPr>
              <a:t>page accessing</a:t>
            </a:r>
            <a:endParaRPr sz="3764">
              <a:latin typeface="Calibri"/>
              <a:ea typeface="Calibri"/>
              <a:cs typeface="Calibri"/>
              <a:sym typeface="Calibri"/>
            </a:endParaRPr>
          </a:p>
          <a:p>
            <a:pPr indent="-342136" lvl="1" marL="914400" rtl="0" algn="l">
              <a:lnSpc>
                <a:spcPct val="100000"/>
              </a:lnSpc>
              <a:spcBef>
                <a:spcPts val="0"/>
              </a:spcBef>
              <a:spcAft>
                <a:spcPts val="0"/>
              </a:spcAft>
              <a:buSzPct val="100000"/>
              <a:buFont typeface="Calibri"/>
              <a:buChar char="•"/>
            </a:pPr>
            <a:r>
              <a:rPr lang="en-US" sz="3764">
                <a:latin typeface="Calibri"/>
                <a:ea typeface="Calibri"/>
                <a:cs typeface="Calibri"/>
                <a:sym typeface="Calibri"/>
              </a:rPr>
              <a:t>read/write </a:t>
            </a:r>
            <a:r>
              <a:rPr lang="en-US" sz="3764">
                <a:latin typeface="Calibri"/>
                <a:ea typeface="Calibri"/>
                <a:cs typeface="Calibri"/>
                <a:sym typeface="Calibri"/>
              </a:rPr>
              <a:t>privileges</a:t>
            </a:r>
            <a:endParaRPr sz="3764">
              <a:latin typeface="Calibri"/>
              <a:ea typeface="Calibri"/>
              <a:cs typeface="Calibri"/>
              <a:sym typeface="Calibri"/>
            </a:endParaRPr>
          </a:p>
          <a:p>
            <a:pPr indent="0" lvl="0" marL="0" rtl="0" algn="l">
              <a:lnSpc>
                <a:spcPct val="100000"/>
              </a:lnSpc>
              <a:spcBef>
                <a:spcPts val="0"/>
              </a:spcBef>
              <a:spcAft>
                <a:spcPts val="0"/>
              </a:spcAft>
              <a:buNone/>
            </a:pPr>
            <a:r>
              <a:t/>
            </a:r>
            <a:endParaRPr sz="3764">
              <a:latin typeface="Calibri"/>
              <a:ea typeface="Calibri"/>
              <a:cs typeface="Calibri"/>
              <a:sym typeface="Calibri"/>
            </a:endParaRPr>
          </a:p>
          <a:p>
            <a:pPr indent="-342136" lvl="0" marL="457200" rtl="0" algn="l">
              <a:lnSpc>
                <a:spcPct val="100000"/>
              </a:lnSpc>
              <a:spcBef>
                <a:spcPts val="0"/>
              </a:spcBef>
              <a:spcAft>
                <a:spcPts val="0"/>
              </a:spcAft>
              <a:buSzPct val="100000"/>
              <a:buFont typeface="Calibri"/>
              <a:buChar char="•"/>
            </a:pPr>
            <a:r>
              <a:rPr lang="en-US" sz="3764">
                <a:latin typeface="Calibri"/>
                <a:ea typeface="Calibri"/>
                <a:cs typeface="Calibri"/>
                <a:sym typeface="Calibri"/>
              </a:rPr>
              <a:t>Accounting is the WHEN/WHERE</a:t>
            </a:r>
            <a:endParaRPr sz="3764">
              <a:latin typeface="Calibri"/>
              <a:ea typeface="Calibri"/>
              <a:cs typeface="Calibri"/>
              <a:sym typeface="Calibri"/>
            </a:endParaRPr>
          </a:p>
          <a:p>
            <a:pPr indent="-342136" lvl="1" marL="914400" rtl="0" algn="l">
              <a:lnSpc>
                <a:spcPct val="100000"/>
              </a:lnSpc>
              <a:spcBef>
                <a:spcPts val="0"/>
              </a:spcBef>
              <a:spcAft>
                <a:spcPts val="0"/>
              </a:spcAft>
              <a:buSzPct val="100000"/>
              <a:buFont typeface="Calibri"/>
              <a:buChar char="•"/>
            </a:pPr>
            <a:r>
              <a:rPr lang="en-US" sz="3764">
                <a:latin typeface="Calibri"/>
                <a:ea typeface="Calibri"/>
                <a:cs typeface="Calibri"/>
                <a:sym typeface="Calibri"/>
              </a:rPr>
              <a:t>logging of user actions</a:t>
            </a:r>
            <a:endParaRPr sz="3764">
              <a:latin typeface="Calibri"/>
              <a:ea typeface="Calibri"/>
              <a:cs typeface="Calibri"/>
              <a:sym typeface="Calibri"/>
            </a:endParaRPr>
          </a:p>
          <a:p>
            <a:pPr indent="-342136" lvl="1" marL="914400" rtl="0" algn="l">
              <a:lnSpc>
                <a:spcPct val="100000"/>
              </a:lnSpc>
              <a:spcBef>
                <a:spcPts val="0"/>
              </a:spcBef>
              <a:spcAft>
                <a:spcPts val="0"/>
              </a:spcAft>
              <a:buSzPct val="100000"/>
              <a:buFont typeface="Calibri"/>
              <a:buChar char="•"/>
            </a:pPr>
            <a:r>
              <a:rPr lang="en-US" sz="3764">
                <a:latin typeface="Calibri"/>
                <a:ea typeface="Calibri"/>
                <a:cs typeface="Calibri"/>
                <a:sym typeface="Calibri"/>
              </a:rPr>
              <a:t>files edited</a:t>
            </a:r>
            <a:endParaRPr sz="3764">
              <a:latin typeface="Calibri"/>
              <a:ea typeface="Calibri"/>
              <a:cs typeface="Calibri"/>
              <a:sym typeface="Calibri"/>
            </a:endParaRPr>
          </a:p>
          <a:p>
            <a:pPr indent="-342136" lvl="1" marL="914400" rtl="0" algn="l">
              <a:lnSpc>
                <a:spcPct val="100000"/>
              </a:lnSpc>
              <a:spcBef>
                <a:spcPts val="0"/>
              </a:spcBef>
              <a:spcAft>
                <a:spcPts val="0"/>
              </a:spcAft>
              <a:buSzPct val="100000"/>
              <a:buFont typeface="Calibri"/>
              <a:buChar char="•"/>
            </a:pPr>
            <a:r>
              <a:rPr lang="en-US" sz="3764">
                <a:latin typeface="Calibri"/>
                <a:ea typeface="Calibri"/>
                <a:cs typeface="Calibri"/>
                <a:sym typeface="Calibri"/>
              </a:rPr>
              <a:t>timestamp of when</a:t>
            </a:r>
            <a:endParaRPr sz="3764">
              <a:latin typeface="Calibri"/>
              <a:ea typeface="Calibri"/>
              <a:cs typeface="Calibri"/>
              <a:sym typeface="Calibri"/>
            </a:endParaRPr>
          </a:p>
          <a:p>
            <a:pPr indent="-342136" lvl="1" marL="914400" rtl="0" algn="l">
              <a:lnSpc>
                <a:spcPct val="100000"/>
              </a:lnSpc>
              <a:spcBef>
                <a:spcPts val="0"/>
              </a:spcBef>
              <a:spcAft>
                <a:spcPts val="0"/>
              </a:spcAft>
              <a:buSzPct val="100000"/>
              <a:buFont typeface="Calibri"/>
              <a:buChar char="•"/>
            </a:pPr>
            <a:r>
              <a:rPr lang="en-US" sz="3764">
                <a:latin typeface="Calibri"/>
                <a:ea typeface="Calibri"/>
                <a:cs typeface="Calibri"/>
                <a:sym typeface="Calibri"/>
              </a:rPr>
              <a:t>what device?</a:t>
            </a:r>
            <a:endParaRPr sz="3764">
              <a:latin typeface="Calibri"/>
              <a:ea typeface="Calibri"/>
              <a:cs typeface="Calibri"/>
              <a:sym typeface="Calibri"/>
            </a:endParaRPr>
          </a:p>
          <a:p>
            <a:pPr indent="-342136" lvl="1" marL="914400" rtl="0" algn="l">
              <a:lnSpc>
                <a:spcPct val="100000"/>
              </a:lnSpc>
              <a:spcBef>
                <a:spcPts val="0"/>
              </a:spcBef>
              <a:spcAft>
                <a:spcPts val="0"/>
              </a:spcAft>
              <a:buSzPct val="100000"/>
              <a:buFont typeface="Calibri"/>
              <a:buChar char="•"/>
            </a:pPr>
            <a:r>
              <a:rPr lang="en-US" sz="3764">
                <a:latin typeface="Calibri"/>
                <a:ea typeface="Calibri"/>
                <a:cs typeface="Calibri"/>
                <a:sym typeface="Calibri"/>
              </a:rPr>
              <a:t>in network or from outside?</a:t>
            </a:r>
            <a:endParaRPr sz="3764">
              <a:latin typeface="Calibri"/>
              <a:ea typeface="Calibri"/>
              <a:cs typeface="Calibri"/>
              <a:sym typeface="Calibri"/>
            </a:endParaRPr>
          </a:p>
        </p:txBody>
      </p:sp>
      <p:pic>
        <p:nvPicPr>
          <p:cNvPr descr="Green Pace logo" id="198" name="Google Shape;198;p8"/>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
        <p:nvSpPr>
          <p:cNvPr id="199" name="Google Shape;199;p8"/>
          <p:cNvSpPr txBox="1"/>
          <p:nvPr/>
        </p:nvSpPr>
        <p:spPr>
          <a:xfrm>
            <a:off x="3701900" y="-658375"/>
            <a:ext cx="10342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200">
              <a:solidFill>
                <a:schemeClr val="lt1"/>
              </a:solidFill>
              <a:latin typeface="Century Gothic"/>
              <a:ea typeface="Century Gothic"/>
              <a:cs typeface="Century Gothic"/>
              <a:sym typeface="Century Gothic"/>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9504e29505_0_0"/>
          <p:cNvSpPr txBox="1"/>
          <p:nvPr>
            <p:ph type="title"/>
          </p:nvPr>
        </p:nvSpPr>
        <p:spPr>
          <a:xfrm>
            <a:off x="2895600" y="764373"/>
            <a:ext cx="8610600" cy="12930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Unit Testing</a:t>
            </a:r>
            <a:endParaRPr/>
          </a:p>
        </p:txBody>
      </p:sp>
      <p:sp>
        <p:nvSpPr>
          <p:cNvPr id="205" name="Google Shape;205;g9504e29505_0_0"/>
          <p:cNvSpPr txBox="1"/>
          <p:nvPr>
            <p:ph idx="1" type="body"/>
          </p:nvPr>
        </p:nvSpPr>
        <p:spPr>
          <a:xfrm>
            <a:off x="0" y="2833810"/>
            <a:ext cx="10820400" cy="4024200"/>
          </a:xfrm>
          <a:prstGeom prst="rect">
            <a:avLst/>
          </a:prstGeom>
          <a:noFill/>
          <a:ln>
            <a:noFill/>
          </a:ln>
        </p:spPr>
        <p:txBody>
          <a:bodyPr anchorCtr="0" anchor="t" bIns="45700" lIns="91425" spcFirstLastPara="1" rIns="91425" wrap="square" tIns="45700">
            <a:noAutofit/>
          </a:bodyPr>
          <a:lstStyle/>
          <a:p>
            <a:pPr indent="-342900" lvl="0" marL="457200" rtl="0" algn="l">
              <a:lnSpc>
                <a:spcPct val="90000"/>
              </a:lnSpc>
              <a:spcBef>
                <a:spcPts val="1000"/>
              </a:spcBef>
              <a:spcAft>
                <a:spcPts val="0"/>
              </a:spcAft>
              <a:buSzPts val="1800"/>
              <a:buChar char="•"/>
            </a:pPr>
            <a:r>
              <a:rPr lang="en-US"/>
              <a:t>Unit test of: CTR-51-CPP (container accessing)</a:t>
            </a:r>
            <a:endParaRPr/>
          </a:p>
          <a:p>
            <a:pPr indent="-342900" lvl="1" marL="1371600" rtl="0" algn="l">
              <a:lnSpc>
                <a:spcPct val="90000"/>
              </a:lnSpc>
              <a:spcBef>
                <a:spcPts val="0"/>
              </a:spcBef>
              <a:spcAft>
                <a:spcPts val="0"/>
              </a:spcAft>
              <a:buSzPts val="1800"/>
              <a:buChar char="•"/>
            </a:pPr>
            <a:r>
              <a:rPr lang="en-US"/>
              <a:t>Test type: </a:t>
            </a:r>
            <a:endParaRPr/>
          </a:p>
          <a:p>
            <a:pPr indent="-342900" lvl="2" marL="1828800" rtl="0" algn="l">
              <a:lnSpc>
                <a:spcPct val="90000"/>
              </a:lnSpc>
              <a:spcBef>
                <a:spcPts val="0"/>
              </a:spcBef>
              <a:spcAft>
                <a:spcPts val="0"/>
              </a:spcAft>
              <a:buSzPts val="1800"/>
              <a:buChar char="•"/>
            </a:pPr>
            <a:r>
              <a:rPr lang="en-US"/>
              <a:t>Positive:</a:t>
            </a:r>
            <a:endParaRPr/>
          </a:p>
          <a:p>
            <a:pPr indent="-342900" lvl="3" marL="2286000" rtl="0" algn="l">
              <a:lnSpc>
                <a:spcPct val="90000"/>
              </a:lnSpc>
              <a:spcBef>
                <a:spcPts val="0"/>
              </a:spcBef>
              <a:spcAft>
                <a:spcPts val="0"/>
              </a:spcAft>
              <a:buSzPts val="1800"/>
              <a:buChar char="•"/>
            </a:pPr>
            <a:r>
              <a:rPr lang="en-US"/>
              <a:t>Accessing a basic element</a:t>
            </a:r>
            <a:endParaRPr/>
          </a:p>
          <a:p>
            <a:pPr indent="-342900" lvl="3" marL="2286000" rtl="0" algn="l">
              <a:lnSpc>
                <a:spcPct val="90000"/>
              </a:lnSpc>
              <a:spcBef>
                <a:spcPts val="0"/>
              </a:spcBef>
              <a:spcAft>
                <a:spcPts val="0"/>
              </a:spcAft>
              <a:buSzPts val="1800"/>
              <a:buChar char="•"/>
            </a:pPr>
            <a:r>
              <a:rPr lang="en-US"/>
              <a:t>Accessing first element</a:t>
            </a:r>
            <a:endParaRPr/>
          </a:p>
          <a:p>
            <a:pPr indent="-342900" lvl="3" marL="2286000" rtl="0" algn="l">
              <a:lnSpc>
                <a:spcPct val="90000"/>
              </a:lnSpc>
              <a:spcBef>
                <a:spcPts val="0"/>
              </a:spcBef>
              <a:spcAft>
                <a:spcPts val="0"/>
              </a:spcAft>
              <a:buSzPts val="1800"/>
              <a:buChar char="•"/>
            </a:pPr>
            <a:r>
              <a:rPr lang="en-US"/>
              <a:t>Inserting an element</a:t>
            </a:r>
            <a:endParaRPr/>
          </a:p>
          <a:p>
            <a:pPr indent="-342900" lvl="2" marL="1828800" rtl="0" algn="l">
              <a:lnSpc>
                <a:spcPct val="90000"/>
              </a:lnSpc>
              <a:spcBef>
                <a:spcPts val="0"/>
              </a:spcBef>
              <a:spcAft>
                <a:spcPts val="0"/>
              </a:spcAft>
              <a:buSzPts val="1800"/>
              <a:buChar char="•"/>
            </a:pPr>
            <a:r>
              <a:rPr lang="en-US"/>
              <a:t>Negative</a:t>
            </a:r>
            <a:endParaRPr/>
          </a:p>
          <a:p>
            <a:pPr indent="-342900" lvl="3" marL="2286000" rtl="0" algn="l">
              <a:lnSpc>
                <a:spcPct val="90000"/>
              </a:lnSpc>
              <a:spcBef>
                <a:spcPts val="0"/>
              </a:spcBef>
              <a:spcAft>
                <a:spcPts val="0"/>
              </a:spcAft>
              <a:buSzPts val="1800"/>
              <a:buChar char="•"/>
            </a:pPr>
            <a:r>
              <a:rPr lang="en-US"/>
              <a:t>Access with invalid element</a:t>
            </a:r>
            <a:endParaRPr/>
          </a:p>
          <a:p>
            <a:pPr indent="-342900" lvl="3" marL="2286000" rtl="0" algn="l">
              <a:lnSpc>
                <a:spcPct val="90000"/>
              </a:lnSpc>
              <a:spcBef>
                <a:spcPts val="0"/>
              </a:spcBef>
              <a:spcAft>
                <a:spcPts val="0"/>
              </a:spcAft>
              <a:buSzPts val="1800"/>
              <a:buChar char="•"/>
            </a:pPr>
            <a:r>
              <a:rPr lang="en-US"/>
              <a:t>Access OTB with integer wraparound</a:t>
            </a:r>
            <a:endParaRPr/>
          </a:p>
          <a:p>
            <a:pPr indent="-342900" lvl="3" marL="2286000" rtl="0" algn="l">
              <a:lnSpc>
                <a:spcPct val="90000"/>
              </a:lnSpc>
              <a:spcBef>
                <a:spcPts val="0"/>
              </a:spcBef>
              <a:spcAft>
                <a:spcPts val="0"/>
              </a:spcAft>
              <a:buSzPts val="1800"/>
              <a:buChar char="•"/>
            </a:pPr>
            <a:r>
              <a:rPr lang="en-US"/>
              <a:t>Insert at bad index</a:t>
            </a:r>
            <a:endParaRPr/>
          </a:p>
        </p:txBody>
      </p:sp>
      <p:pic>
        <p:nvPicPr>
          <p:cNvPr descr="Green Pace logo" id="206" name="Google Shape;206;g9504e29505_0_0"/>
          <p:cNvPicPr preferRelativeResize="0"/>
          <p:nvPr/>
        </p:nvPicPr>
        <p:blipFill rotWithShape="1">
          <a:blip r:embed="rId3">
            <a:alphaModFix/>
          </a:blip>
          <a:srcRect b="0" l="0" r="0" t="0"/>
          <a:stretch/>
        </p:blipFill>
        <p:spPr>
          <a:xfrm>
            <a:off x="11084074" y="5440526"/>
            <a:ext cx="886601" cy="1149223"/>
          </a:xfrm>
          <a:prstGeom prst="rect">
            <a:avLst/>
          </a:prstGeom>
          <a:noFill/>
          <a:ln>
            <a:noFill/>
          </a:ln>
        </p:spPr>
      </p:pic>
      <p:pic>
        <p:nvPicPr>
          <p:cNvPr id="207" name="Google Shape;207;g9504e29505_0_0"/>
          <p:cNvPicPr preferRelativeResize="0"/>
          <p:nvPr/>
        </p:nvPicPr>
        <p:blipFill>
          <a:blip r:embed="rId4">
            <a:alphaModFix/>
          </a:blip>
          <a:stretch>
            <a:fillRect/>
          </a:stretch>
        </p:blipFill>
        <p:spPr>
          <a:xfrm>
            <a:off x="0" y="0"/>
            <a:ext cx="8467550" cy="2205500"/>
          </a:xfrm>
          <a:prstGeom prst="rect">
            <a:avLst/>
          </a:prstGeom>
          <a:noFill/>
          <a:ln>
            <a:noFill/>
          </a:ln>
        </p:spPr>
      </p:pic>
      <p:pic>
        <p:nvPicPr>
          <p:cNvPr id="208" name="Google Shape;208;g9504e29505_0_0"/>
          <p:cNvPicPr preferRelativeResize="0"/>
          <p:nvPr/>
        </p:nvPicPr>
        <p:blipFill>
          <a:blip r:embed="rId5">
            <a:alphaModFix/>
          </a:blip>
          <a:stretch>
            <a:fillRect/>
          </a:stretch>
        </p:blipFill>
        <p:spPr>
          <a:xfrm>
            <a:off x="8675025" y="1885625"/>
            <a:ext cx="3295650" cy="3409950"/>
          </a:xfrm>
          <a:prstGeom prst="rect">
            <a:avLst/>
          </a:prstGeom>
          <a:noFill/>
          <a:ln>
            <a:noFill/>
          </a:ln>
        </p:spPr>
      </p:pic>
    </p:spTree>
  </p:cSld>
  <p:clrMapOvr>
    <a:masterClrMapping/>
  </p:clrMapOvr>
  <p:transition spd="med">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f721e8e2a1_0_0"/>
          <p:cNvSpPr txBox="1"/>
          <p:nvPr>
            <p:ph type="title"/>
          </p:nvPr>
        </p:nvSpPr>
        <p:spPr>
          <a:xfrm>
            <a:off x="3581400" y="-2"/>
            <a:ext cx="8610600" cy="12930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AccessBasicElementTest()</a:t>
            </a:r>
            <a:endParaRPr/>
          </a:p>
        </p:txBody>
      </p:sp>
      <p:pic>
        <p:nvPicPr>
          <p:cNvPr descr="Green Pace logo" id="214" name="Google Shape;214;g3f721e8e2a1_0_0"/>
          <p:cNvPicPr preferRelativeResize="0"/>
          <p:nvPr/>
        </p:nvPicPr>
        <p:blipFill rotWithShape="1">
          <a:blip r:embed="rId3">
            <a:alphaModFix/>
          </a:blip>
          <a:srcRect b="0" l="0" r="0" t="0"/>
          <a:stretch/>
        </p:blipFill>
        <p:spPr>
          <a:xfrm>
            <a:off x="11084074" y="5440526"/>
            <a:ext cx="886601" cy="1149223"/>
          </a:xfrm>
          <a:prstGeom prst="rect">
            <a:avLst/>
          </a:prstGeom>
          <a:noFill/>
          <a:ln>
            <a:noFill/>
          </a:ln>
        </p:spPr>
      </p:pic>
      <p:pic>
        <p:nvPicPr>
          <p:cNvPr id="215" name="Google Shape;215;g3f721e8e2a1_0_0"/>
          <p:cNvPicPr preferRelativeResize="0"/>
          <p:nvPr/>
        </p:nvPicPr>
        <p:blipFill>
          <a:blip r:embed="rId4">
            <a:alphaModFix/>
          </a:blip>
          <a:stretch>
            <a:fillRect/>
          </a:stretch>
        </p:blipFill>
        <p:spPr>
          <a:xfrm>
            <a:off x="0" y="924676"/>
            <a:ext cx="8077475" cy="1631025"/>
          </a:xfrm>
          <a:prstGeom prst="rect">
            <a:avLst/>
          </a:prstGeom>
          <a:noFill/>
          <a:ln>
            <a:noFill/>
          </a:ln>
        </p:spPr>
      </p:pic>
      <p:pic>
        <p:nvPicPr>
          <p:cNvPr id="216" name="Google Shape;216;g3f721e8e2a1_0_0"/>
          <p:cNvPicPr preferRelativeResize="0"/>
          <p:nvPr/>
        </p:nvPicPr>
        <p:blipFill>
          <a:blip r:embed="rId5">
            <a:alphaModFix/>
          </a:blip>
          <a:stretch>
            <a:fillRect/>
          </a:stretch>
        </p:blipFill>
        <p:spPr>
          <a:xfrm>
            <a:off x="125700" y="3069874"/>
            <a:ext cx="11185200" cy="2129000"/>
          </a:xfrm>
          <a:prstGeom prst="rect">
            <a:avLst/>
          </a:prstGeom>
          <a:noFill/>
          <a:ln>
            <a:noFill/>
          </a:ln>
        </p:spPr>
      </p:pic>
    </p:spTree>
  </p:cSld>
  <p:clrMapOvr>
    <a:masterClrMapping/>
  </p:clrMapOvr>
  <p:transition spd="med">
    <p:push dir="r"/>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f721e8e2a1_0_32"/>
          <p:cNvSpPr txBox="1"/>
          <p:nvPr>
            <p:ph type="title"/>
          </p:nvPr>
        </p:nvSpPr>
        <p:spPr>
          <a:xfrm>
            <a:off x="3581400" y="-2"/>
            <a:ext cx="8610600" cy="12930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AccessFirstElementTest()</a:t>
            </a:r>
            <a:endParaRPr/>
          </a:p>
        </p:txBody>
      </p:sp>
      <p:pic>
        <p:nvPicPr>
          <p:cNvPr descr="Green Pace logo" id="222" name="Google Shape;222;g3f721e8e2a1_0_32"/>
          <p:cNvPicPr preferRelativeResize="0"/>
          <p:nvPr/>
        </p:nvPicPr>
        <p:blipFill rotWithShape="1">
          <a:blip r:embed="rId3">
            <a:alphaModFix/>
          </a:blip>
          <a:srcRect b="0" l="0" r="0" t="0"/>
          <a:stretch/>
        </p:blipFill>
        <p:spPr>
          <a:xfrm>
            <a:off x="11084074" y="5440526"/>
            <a:ext cx="886601" cy="1149223"/>
          </a:xfrm>
          <a:prstGeom prst="rect">
            <a:avLst/>
          </a:prstGeom>
          <a:noFill/>
          <a:ln>
            <a:noFill/>
          </a:ln>
        </p:spPr>
      </p:pic>
      <p:pic>
        <p:nvPicPr>
          <p:cNvPr id="223" name="Google Shape;223;g3f721e8e2a1_0_32"/>
          <p:cNvPicPr preferRelativeResize="0"/>
          <p:nvPr/>
        </p:nvPicPr>
        <p:blipFill>
          <a:blip r:embed="rId4">
            <a:alphaModFix/>
          </a:blip>
          <a:stretch>
            <a:fillRect/>
          </a:stretch>
        </p:blipFill>
        <p:spPr>
          <a:xfrm>
            <a:off x="296025" y="1047427"/>
            <a:ext cx="8200725" cy="1747700"/>
          </a:xfrm>
          <a:prstGeom prst="rect">
            <a:avLst/>
          </a:prstGeom>
          <a:noFill/>
          <a:ln>
            <a:noFill/>
          </a:ln>
        </p:spPr>
      </p:pic>
      <p:pic>
        <p:nvPicPr>
          <p:cNvPr id="224" name="Google Shape;224;g3f721e8e2a1_0_32"/>
          <p:cNvPicPr preferRelativeResize="0"/>
          <p:nvPr/>
        </p:nvPicPr>
        <p:blipFill>
          <a:blip r:embed="rId5">
            <a:alphaModFix/>
          </a:blip>
          <a:stretch>
            <a:fillRect/>
          </a:stretch>
        </p:blipFill>
        <p:spPr>
          <a:xfrm>
            <a:off x="296025" y="3288674"/>
            <a:ext cx="10084250" cy="1996300"/>
          </a:xfrm>
          <a:prstGeom prst="rect">
            <a:avLst/>
          </a:prstGeom>
          <a:noFill/>
          <a:ln>
            <a:noFill/>
          </a:ln>
        </p:spPr>
      </p:pic>
    </p:spTree>
  </p:cSld>
  <p:clrMapOvr>
    <a:masterClrMapping/>
  </p:clrMapOvr>
  <p:transition spd="med">
    <p:push/>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f721e8e2a1_0_25"/>
          <p:cNvSpPr txBox="1"/>
          <p:nvPr>
            <p:ph type="title"/>
          </p:nvPr>
        </p:nvSpPr>
        <p:spPr>
          <a:xfrm>
            <a:off x="3581400" y="-2"/>
            <a:ext cx="8610600" cy="12930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InsertElementTest()</a:t>
            </a:r>
            <a:endParaRPr/>
          </a:p>
        </p:txBody>
      </p:sp>
      <p:pic>
        <p:nvPicPr>
          <p:cNvPr descr="Green Pace logo" id="230" name="Google Shape;230;g3f721e8e2a1_0_25"/>
          <p:cNvPicPr preferRelativeResize="0"/>
          <p:nvPr/>
        </p:nvPicPr>
        <p:blipFill rotWithShape="1">
          <a:blip r:embed="rId3">
            <a:alphaModFix/>
          </a:blip>
          <a:srcRect b="0" l="0" r="0" t="0"/>
          <a:stretch/>
        </p:blipFill>
        <p:spPr>
          <a:xfrm>
            <a:off x="11084074" y="5440526"/>
            <a:ext cx="886601" cy="1149223"/>
          </a:xfrm>
          <a:prstGeom prst="rect">
            <a:avLst/>
          </a:prstGeom>
          <a:noFill/>
          <a:ln>
            <a:noFill/>
          </a:ln>
        </p:spPr>
      </p:pic>
      <p:pic>
        <p:nvPicPr>
          <p:cNvPr id="231" name="Google Shape;231;g3f721e8e2a1_0_25"/>
          <p:cNvPicPr preferRelativeResize="0"/>
          <p:nvPr/>
        </p:nvPicPr>
        <p:blipFill>
          <a:blip r:embed="rId4">
            <a:alphaModFix/>
          </a:blip>
          <a:stretch>
            <a:fillRect/>
          </a:stretch>
        </p:blipFill>
        <p:spPr>
          <a:xfrm>
            <a:off x="152400" y="1008226"/>
            <a:ext cx="9660074" cy="2259475"/>
          </a:xfrm>
          <a:prstGeom prst="rect">
            <a:avLst/>
          </a:prstGeom>
          <a:noFill/>
          <a:ln>
            <a:noFill/>
          </a:ln>
        </p:spPr>
      </p:pic>
      <p:pic>
        <p:nvPicPr>
          <p:cNvPr id="232" name="Google Shape;232;g3f721e8e2a1_0_25"/>
          <p:cNvPicPr preferRelativeResize="0"/>
          <p:nvPr/>
        </p:nvPicPr>
        <p:blipFill>
          <a:blip r:embed="rId5">
            <a:alphaModFix/>
          </a:blip>
          <a:stretch>
            <a:fillRect/>
          </a:stretch>
        </p:blipFill>
        <p:spPr>
          <a:xfrm>
            <a:off x="152400" y="3420099"/>
            <a:ext cx="10517124" cy="2259475"/>
          </a:xfrm>
          <a:prstGeom prst="rect">
            <a:avLst/>
          </a:prstGeom>
          <a:noFill/>
          <a:ln>
            <a:noFill/>
          </a:ln>
        </p:spPr>
      </p:pic>
    </p:spTree>
  </p:cSld>
  <p:clrMapOvr>
    <a:masterClrMapping/>
  </p:clrMapOvr>
  <p:transition spd="med">
    <p:push dir="r"/>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3f721e8e2a1_0_18"/>
          <p:cNvSpPr txBox="1"/>
          <p:nvPr>
            <p:ph type="title"/>
          </p:nvPr>
        </p:nvSpPr>
        <p:spPr>
          <a:xfrm>
            <a:off x="3581400" y="-2"/>
            <a:ext cx="8610600" cy="12930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AccessInvalidElementTest()</a:t>
            </a:r>
            <a:endParaRPr/>
          </a:p>
        </p:txBody>
      </p:sp>
      <p:pic>
        <p:nvPicPr>
          <p:cNvPr descr="Green Pace logo" id="238" name="Google Shape;238;g3f721e8e2a1_0_18"/>
          <p:cNvPicPr preferRelativeResize="0"/>
          <p:nvPr/>
        </p:nvPicPr>
        <p:blipFill rotWithShape="1">
          <a:blip r:embed="rId3">
            <a:alphaModFix/>
          </a:blip>
          <a:srcRect b="0" l="0" r="0" t="0"/>
          <a:stretch/>
        </p:blipFill>
        <p:spPr>
          <a:xfrm>
            <a:off x="11084074" y="5440526"/>
            <a:ext cx="886601" cy="1149223"/>
          </a:xfrm>
          <a:prstGeom prst="rect">
            <a:avLst/>
          </a:prstGeom>
          <a:noFill/>
          <a:ln>
            <a:noFill/>
          </a:ln>
        </p:spPr>
      </p:pic>
      <p:pic>
        <p:nvPicPr>
          <p:cNvPr id="239" name="Google Shape;239;g3f721e8e2a1_0_18"/>
          <p:cNvPicPr preferRelativeResize="0"/>
          <p:nvPr/>
        </p:nvPicPr>
        <p:blipFill>
          <a:blip r:embed="rId4">
            <a:alphaModFix/>
          </a:blip>
          <a:stretch>
            <a:fillRect/>
          </a:stretch>
        </p:blipFill>
        <p:spPr>
          <a:xfrm>
            <a:off x="152400" y="1293001"/>
            <a:ext cx="10065451" cy="1627348"/>
          </a:xfrm>
          <a:prstGeom prst="rect">
            <a:avLst/>
          </a:prstGeom>
          <a:noFill/>
          <a:ln>
            <a:noFill/>
          </a:ln>
        </p:spPr>
      </p:pic>
      <p:pic>
        <p:nvPicPr>
          <p:cNvPr id="240" name="Google Shape;240;g3f721e8e2a1_0_18"/>
          <p:cNvPicPr preferRelativeResize="0"/>
          <p:nvPr/>
        </p:nvPicPr>
        <p:blipFill>
          <a:blip r:embed="rId5">
            <a:alphaModFix/>
          </a:blip>
          <a:stretch>
            <a:fillRect/>
          </a:stretch>
        </p:blipFill>
        <p:spPr>
          <a:xfrm>
            <a:off x="152400" y="3264200"/>
            <a:ext cx="10433550" cy="2176325"/>
          </a:xfrm>
          <a:prstGeom prst="rect">
            <a:avLst/>
          </a:prstGeom>
          <a:noFill/>
          <a:ln>
            <a:noFill/>
          </a:ln>
        </p:spPr>
      </p:pic>
    </p:spTree>
  </p:cSld>
  <p:clrMapOvr>
    <a:masterClrMapping/>
  </p:clrMapOvr>
  <p:transition spd="med">
    <p:push/>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f721e8e2a1_0_11"/>
          <p:cNvSpPr txBox="1"/>
          <p:nvPr>
            <p:ph type="title"/>
          </p:nvPr>
        </p:nvSpPr>
        <p:spPr>
          <a:xfrm>
            <a:off x="3581400" y="-2"/>
            <a:ext cx="8610600" cy="12930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AccessWrapAroundElementTest()</a:t>
            </a:r>
            <a:endParaRPr/>
          </a:p>
        </p:txBody>
      </p:sp>
      <p:pic>
        <p:nvPicPr>
          <p:cNvPr descr="Green Pace logo" id="246" name="Google Shape;246;g3f721e8e2a1_0_11"/>
          <p:cNvPicPr preferRelativeResize="0"/>
          <p:nvPr/>
        </p:nvPicPr>
        <p:blipFill rotWithShape="1">
          <a:blip r:embed="rId3">
            <a:alphaModFix/>
          </a:blip>
          <a:srcRect b="0" l="0" r="0" t="0"/>
          <a:stretch/>
        </p:blipFill>
        <p:spPr>
          <a:xfrm>
            <a:off x="11084074" y="5440526"/>
            <a:ext cx="886601" cy="1149223"/>
          </a:xfrm>
          <a:prstGeom prst="rect">
            <a:avLst/>
          </a:prstGeom>
          <a:noFill/>
          <a:ln>
            <a:noFill/>
          </a:ln>
        </p:spPr>
      </p:pic>
      <p:pic>
        <p:nvPicPr>
          <p:cNvPr id="247" name="Google Shape;247;g3f721e8e2a1_0_11"/>
          <p:cNvPicPr preferRelativeResize="0"/>
          <p:nvPr/>
        </p:nvPicPr>
        <p:blipFill>
          <a:blip r:embed="rId4">
            <a:alphaModFix/>
          </a:blip>
          <a:stretch>
            <a:fillRect/>
          </a:stretch>
        </p:blipFill>
        <p:spPr>
          <a:xfrm>
            <a:off x="152400" y="1140151"/>
            <a:ext cx="9412848" cy="1677400"/>
          </a:xfrm>
          <a:prstGeom prst="rect">
            <a:avLst/>
          </a:prstGeom>
          <a:noFill/>
          <a:ln>
            <a:noFill/>
          </a:ln>
        </p:spPr>
      </p:pic>
      <p:pic>
        <p:nvPicPr>
          <p:cNvPr id="248" name="Google Shape;248;g3f721e8e2a1_0_11"/>
          <p:cNvPicPr preferRelativeResize="0"/>
          <p:nvPr/>
        </p:nvPicPr>
        <p:blipFill>
          <a:blip r:embed="rId5">
            <a:alphaModFix/>
          </a:blip>
          <a:stretch>
            <a:fillRect/>
          </a:stretch>
        </p:blipFill>
        <p:spPr>
          <a:xfrm>
            <a:off x="224225" y="3023824"/>
            <a:ext cx="9838449" cy="1955925"/>
          </a:xfrm>
          <a:prstGeom prst="rect">
            <a:avLst/>
          </a:prstGeom>
          <a:noFill/>
          <a:ln>
            <a:noFill/>
          </a:ln>
        </p:spPr>
      </p:pic>
    </p:spTree>
  </p:cSld>
  <p:clrMapOvr>
    <a:masterClrMapping/>
  </p:clrMapOvr>
  <p:transition spd="med">
    <p:push dir="r"/>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f9a73f85fd_1_15"/>
          <p:cNvSpPr txBox="1"/>
          <p:nvPr>
            <p:ph type="title"/>
          </p:nvPr>
        </p:nvSpPr>
        <p:spPr>
          <a:xfrm>
            <a:off x="3581400" y="-2"/>
            <a:ext cx="8610600" cy="12930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SzPts val="1800"/>
              <a:buNone/>
            </a:pPr>
            <a:r>
              <a:rPr lang="en-US"/>
              <a:t>InsertElementTest()</a:t>
            </a:r>
            <a:endParaRPr/>
          </a:p>
        </p:txBody>
      </p:sp>
      <p:pic>
        <p:nvPicPr>
          <p:cNvPr descr="Green Pace logo" id="254" name="Google Shape;254;g3f9a73f85fd_1_15"/>
          <p:cNvPicPr preferRelativeResize="0"/>
          <p:nvPr/>
        </p:nvPicPr>
        <p:blipFill rotWithShape="1">
          <a:blip r:embed="rId3">
            <a:alphaModFix/>
          </a:blip>
          <a:srcRect b="0" l="0" r="0" t="0"/>
          <a:stretch/>
        </p:blipFill>
        <p:spPr>
          <a:xfrm>
            <a:off x="11084074" y="5440526"/>
            <a:ext cx="886601" cy="1149223"/>
          </a:xfrm>
          <a:prstGeom prst="rect">
            <a:avLst/>
          </a:prstGeom>
          <a:noFill/>
          <a:ln>
            <a:noFill/>
          </a:ln>
        </p:spPr>
      </p:pic>
      <p:pic>
        <p:nvPicPr>
          <p:cNvPr id="255" name="Google Shape;255;g3f9a73f85fd_1_15"/>
          <p:cNvPicPr preferRelativeResize="0"/>
          <p:nvPr/>
        </p:nvPicPr>
        <p:blipFill>
          <a:blip r:embed="rId4">
            <a:alphaModFix/>
          </a:blip>
          <a:stretch>
            <a:fillRect/>
          </a:stretch>
        </p:blipFill>
        <p:spPr>
          <a:xfrm>
            <a:off x="152400" y="1176076"/>
            <a:ext cx="9389606" cy="1578425"/>
          </a:xfrm>
          <a:prstGeom prst="rect">
            <a:avLst/>
          </a:prstGeom>
          <a:noFill/>
          <a:ln>
            <a:noFill/>
          </a:ln>
        </p:spPr>
      </p:pic>
      <p:pic>
        <p:nvPicPr>
          <p:cNvPr id="256" name="Google Shape;256;g3f9a73f85fd_1_15"/>
          <p:cNvPicPr preferRelativeResize="0"/>
          <p:nvPr/>
        </p:nvPicPr>
        <p:blipFill>
          <a:blip r:embed="rId5">
            <a:alphaModFix/>
          </a:blip>
          <a:stretch>
            <a:fillRect/>
          </a:stretch>
        </p:blipFill>
        <p:spPr>
          <a:xfrm>
            <a:off x="80575" y="3429000"/>
            <a:ext cx="10669100" cy="1857375"/>
          </a:xfrm>
          <a:prstGeom prst="rect">
            <a:avLst/>
          </a:prstGeom>
          <a:noFill/>
          <a:ln>
            <a:noFill/>
          </a:ln>
        </p:spPr>
      </p:pic>
    </p:spTree>
  </p:cSld>
  <p:clrMapOvr>
    <a:masterClrMapping/>
  </p:clrMapOvr>
  <p:transition spd="med">
    <p:push/>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9"/>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AUTOMATION SUMMARY</a:t>
            </a:r>
            <a:endParaRPr/>
          </a:p>
        </p:txBody>
      </p:sp>
      <p:pic>
        <p:nvPicPr>
          <p:cNvPr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id="262" name="Google Shape;262;p9"/>
          <p:cNvPicPr preferRelativeResize="0"/>
          <p:nvPr>
            <p:ph idx="1" type="body"/>
          </p:nvPr>
        </p:nvPicPr>
        <p:blipFill rotWithShape="1">
          <a:blip r:embed="rId3">
            <a:alphaModFix/>
          </a:blip>
          <a:srcRect b="0" l="0" r="0" t="0"/>
          <a:stretch/>
        </p:blipFill>
        <p:spPr>
          <a:xfrm>
            <a:off x="2127250" y="2199481"/>
            <a:ext cx="7937500" cy="4013200"/>
          </a:xfrm>
          <a:prstGeom prst="rect">
            <a:avLst/>
          </a:prstGeom>
          <a:noFill/>
          <a:ln>
            <a:noFill/>
          </a:ln>
        </p:spPr>
      </p:pic>
      <p:pic>
        <p:nvPicPr>
          <p:cNvPr descr="Green Pace logo" id="263" name="Google Shape;263;p9"/>
          <p:cNvPicPr preferRelativeResize="0"/>
          <p:nvPr/>
        </p:nvPicPr>
        <p:blipFill rotWithShape="1">
          <a:blip r:embed="rId4">
            <a:alphaModFix/>
          </a:blip>
          <a:srcRect b="0" l="0" r="0" t="0"/>
          <a:stretch/>
        </p:blipFill>
        <p:spPr>
          <a:xfrm>
            <a:off x="11084074" y="5440526"/>
            <a:ext cx="886601" cy="1149225"/>
          </a:xfrm>
          <a:prstGeom prst="rect">
            <a:avLst/>
          </a:prstGeom>
          <a:noFill/>
          <a:ln>
            <a:noFill/>
          </a:ln>
        </p:spPr>
      </p:pic>
    </p:spTree>
  </p:cSld>
  <p:clrMapOvr>
    <a:masterClrMapping/>
  </p:clrMapOvr>
  <mc:AlternateContent>
    <mc:Choice Requires="p14">
      <p:transition spd="med">
        <p14:prism dir="l"/>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0"/>
          <p:cNvSpPr txBox="1"/>
          <p:nvPr>
            <p:ph type="title"/>
          </p:nvPr>
        </p:nvSpPr>
        <p:spPr>
          <a:xfrm>
            <a:off x="2895600" y="748274"/>
            <a:ext cx="8610600" cy="1293000"/>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TOOLS</a:t>
            </a:r>
            <a:endParaRPr/>
          </a:p>
        </p:txBody>
      </p:sp>
      <p:sp>
        <p:nvSpPr>
          <p:cNvPr id="269" name="Google Shape;269;p10"/>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228600" lvl="1" marL="685800" rtl="0" algn="l">
              <a:lnSpc>
                <a:spcPct val="90000"/>
              </a:lnSpc>
              <a:spcBef>
                <a:spcPts val="0"/>
              </a:spcBef>
              <a:spcAft>
                <a:spcPts val="0"/>
              </a:spcAft>
              <a:buClr>
                <a:schemeClr val="lt1"/>
              </a:buClr>
              <a:buSzPts val="2000"/>
              <a:buChar char="•"/>
            </a:pPr>
            <a:r>
              <a:rPr lang="en-US"/>
              <a:t>The Pipeline</a:t>
            </a:r>
            <a:endParaRPr/>
          </a:p>
          <a:p>
            <a:pPr indent="-342900" lvl="2" marL="1371600" rtl="0" algn="l">
              <a:lnSpc>
                <a:spcPct val="90000"/>
              </a:lnSpc>
              <a:spcBef>
                <a:spcPts val="0"/>
              </a:spcBef>
              <a:spcAft>
                <a:spcPts val="0"/>
              </a:spcAft>
              <a:buSzPts val="1800"/>
              <a:buChar char="•"/>
            </a:pPr>
            <a:r>
              <a:rPr lang="en-US"/>
              <a:t>DevOps → security added at end of production</a:t>
            </a:r>
            <a:endParaRPr/>
          </a:p>
          <a:p>
            <a:pPr indent="-342900" lvl="2" marL="1371600" rtl="0" algn="l">
              <a:lnSpc>
                <a:spcPct val="90000"/>
              </a:lnSpc>
              <a:spcBef>
                <a:spcPts val="0"/>
              </a:spcBef>
              <a:spcAft>
                <a:spcPts val="0"/>
              </a:spcAft>
              <a:buSzPts val="1800"/>
              <a:buChar char="•"/>
            </a:pPr>
            <a:r>
              <a:rPr lang="en-US"/>
              <a:t>DevSecOps → cyclical in the production cycle, added at various phases</a:t>
            </a:r>
            <a:endParaRPr/>
          </a:p>
          <a:p>
            <a:pPr indent="0" lvl="0" marL="914400" rtl="0" algn="l">
              <a:lnSpc>
                <a:spcPct val="90000"/>
              </a:lnSpc>
              <a:spcBef>
                <a:spcPts val="0"/>
              </a:spcBef>
              <a:spcAft>
                <a:spcPts val="0"/>
              </a:spcAft>
              <a:buNone/>
            </a:pPr>
            <a:r>
              <a:t/>
            </a:r>
            <a:endParaRPr/>
          </a:p>
          <a:p>
            <a:pPr indent="0" lvl="0" marL="914400" rtl="0" algn="l">
              <a:lnSpc>
                <a:spcPct val="90000"/>
              </a:lnSpc>
              <a:spcBef>
                <a:spcPts val="0"/>
              </a:spcBef>
              <a:spcAft>
                <a:spcPts val="0"/>
              </a:spcAft>
              <a:buNone/>
            </a:pPr>
            <a:r>
              <a:t/>
            </a:r>
            <a:endParaRPr/>
          </a:p>
          <a:p>
            <a:pPr indent="-342900" lvl="1" marL="914400" rtl="0" algn="l">
              <a:lnSpc>
                <a:spcPct val="90000"/>
              </a:lnSpc>
              <a:spcBef>
                <a:spcPts val="0"/>
              </a:spcBef>
              <a:spcAft>
                <a:spcPts val="0"/>
              </a:spcAft>
              <a:buSzPts val="1800"/>
              <a:buChar char="•"/>
            </a:pPr>
            <a:r>
              <a:rPr lang="en-US"/>
              <a:t>Tools</a:t>
            </a:r>
            <a:endParaRPr/>
          </a:p>
          <a:p>
            <a:pPr indent="-342900" lvl="3" marL="1828800" rtl="0" algn="l">
              <a:lnSpc>
                <a:spcPct val="90000"/>
              </a:lnSpc>
              <a:spcBef>
                <a:spcPts val="0"/>
              </a:spcBef>
              <a:spcAft>
                <a:spcPts val="0"/>
              </a:spcAft>
              <a:buSzPts val="1800"/>
              <a:buChar char="•"/>
            </a:pPr>
            <a:r>
              <a:rPr lang="en-US"/>
              <a:t>CppCheck → Planning Phase</a:t>
            </a:r>
            <a:endParaRPr/>
          </a:p>
          <a:p>
            <a:pPr indent="-342900" lvl="4" marL="2286000" rtl="0" algn="l">
              <a:lnSpc>
                <a:spcPct val="90000"/>
              </a:lnSpc>
              <a:spcBef>
                <a:spcPts val="0"/>
              </a:spcBef>
              <a:spcAft>
                <a:spcPts val="0"/>
              </a:spcAft>
              <a:buSzPts val="1800"/>
              <a:buChar char="•"/>
            </a:pPr>
            <a:r>
              <a:rPr lang="en-US"/>
              <a:t>Live code checker for language specific errors.</a:t>
            </a:r>
            <a:endParaRPr/>
          </a:p>
          <a:p>
            <a:pPr indent="-342900" lvl="3" marL="1828800" rtl="0" algn="l">
              <a:lnSpc>
                <a:spcPct val="90000"/>
              </a:lnSpc>
              <a:spcBef>
                <a:spcPts val="0"/>
              </a:spcBef>
              <a:spcAft>
                <a:spcPts val="0"/>
              </a:spcAft>
              <a:buSzPts val="1800"/>
              <a:buChar char="•"/>
            </a:pPr>
            <a:r>
              <a:rPr lang="en-US"/>
              <a:t>Klocwork → Build Phase</a:t>
            </a:r>
            <a:endParaRPr/>
          </a:p>
          <a:p>
            <a:pPr indent="-342900" lvl="4" marL="2286000" rtl="0" algn="l">
              <a:lnSpc>
                <a:spcPct val="90000"/>
              </a:lnSpc>
              <a:spcBef>
                <a:spcPts val="0"/>
              </a:spcBef>
              <a:spcAft>
                <a:spcPts val="0"/>
              </a:spcAft>
              <a:buSzPts val="1800"/>
              <a:buChar char="•"/>
            </a:pPr>
            <a:r>
              <a:rPr lang="en-US"/>
              <a:t>comparator from CERT rules to written code</a:t>
            </a:r>
            <a:endParaRPr/>
          </a:p>
          <a:p>
            <a:pPr indent="-342900" lvl="3" marL="1828800" rtl="0" algn="l">
              <a:lnSpc>
                <a:spcPct val="90000"/>
              </a:lnSpc>
              <a:spcBef>
                <a:spcPts val="0"/>
              </a:spcBef>
              <a:spcAft>
                <a:spcPts val="0"/>
              </a:spcAft>
              <a:buSzPts val="1800"/>
              <a:buChar char="•"/>
            </a:pPr>
            <a:r>
              <a:rPr lang="en-US"/>
              <a:t>Polyspace Test → Test and Validation</a:t>
            </a:r>
            <a:endParaRPr/>
          </a:p>
          <a:p>
            <a:pPr indent="-342900" lvl="4" marL="2286000" rtl="0" algn="l">
              <a:lnSpc>
                <a:spcPct val="90000"/>
              </a:lnSpc>
              <a:spcBef>
                <a:spcPts val="0"/>
              </a:spcBef>
              <a:spcAft>
                <a:spcPts val="0"/>
              </a:spcAft>
              <a:buSzPts val="1800"/>
              <a:buChar char="•"/>
            </a:pPr>
            <a:r>
              <a:rPr lang="en-US"/>
              <a:t>memory leak checker</a:t>
            </a:r>
            <a:endParaRPr/>
          </a:p>
          <a:p>
            <a:pPr indent="0" lvl="0" marL="0" rtl="0" algn="l">
              <a:lnSpc>
                <a:spcPct val="90000"/>
              </a:lnSpc>
              <a:spcBef>
                <a:spcPts val="0"/>
              </a:spcBef>
              <a:spcAft>
                <a:spcPts val="0"/>
              </a:spcAft>
              <a:buNone/>
            </a:pPr>
            <a:r>
              <a:t/>
            </a:r>
            <a:endParaRPr/>
          </a:p>
        </p:txBody>
      </p:sp>
      <p:pic>
        <p:nvPicPr>
          <p:cNvPr descr="Green Pace logo" id="270" name="Google Shape;270;p10"/>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RISKS AND BENEFITS</a:t>
            </a:r>
            <a:endParaRPr/>
          </a:p>
        </p:txBody>
      </p:sp>
      <p:sp>
        <p:nvSpPr>
          <p:cNvPr id="276" name="Google Shape;276;p11"/>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fontScale="92500" lnSpcReduction="20000"/>
          </a:bodyPr>
          <a:lstStyle/>
          <a:p>
            <a:pPr indent="-219075" lvl="0" marL="228600" rtl="0" algn="l">
              <a:lnSpc>
                <a:spcPct val="90000"/>
              </a:lnSpc>
              <a:spcBef>
                <a:spcPts val="0"/>
              </a:spcBef>
              <a:spcAft>
                <a:spcPts val="0"/>
              </a:spcAft>
              <a:buClr>
                <a:schemeClr val="lt1"/>
              </a:buClr>
              <a:buSzPct val="100000"/>
              <a:buChar char="•"/>
            </a:pPr>
            <a:r>
              <a:rPr lang="en-US" sz="2000"/>
              <a:t>The Quick Route(Now)</a:t>
            </a:r>
            <a:endParaRPr sz="2000"/>
          </a:p>
          <a:p>
            <a:pPr indent="0" lvl="0" marL="914400" rtl="0" algn="l">
              <a:lnSpc>
                <a:spcPct val="90000"/>
              </a:lnSpc>
              <a:spcBef>
                <a:spcPts val="0"/>
              </a:spcBef>
              <a:spcAft>
                <a:spcPts val="0"/>
              </a:spcAft>
              <a:buNone/>
            </a:pPr>
            <a:r>
              <a:rPr lang="en-US" sz="2000"/>
              <a:t>PROS:</a:t>
            </a:r>
            <a:endParaRPr sz="2000"/>
          </a:p>
          <a:p>
            <a:pPr indent="-346075" lvl="0" marL="1828800" rtl="0" algn="l">
              <a:lnSpc>
                <a:spcPct val="90000"/>
              </a:lnSpc>
              <a:spcBef>
                <a:spcPts val="0"/>
              </a:spcBef>
              <a:spcAft>
                <a:spcPts val="0"/>
              </a:spcAft>
              <a:buSzPct val="100000"/>
              <a:buChar char="-"/>
            </a:pPr>
            <a:r>
              <a:rPr lang="en-US" sz="2000"/>
              <a:t>Smaller code base to work with</a:t>
            </a:r>
            <a:endParaRPr sz="2000"/>
          </a:p>
          <a:p>
            <a:pPr indent="-346075" lvl="0" marL="1828800" rtl="0" algn="l">
              <a:lnSpc>
                <a:spcPct val="90000"/>
              </a:lnSpc>
              <a:spcBef>
                <a:spcPts val="0"/>
              </a:spcBef>
              <a:spcAft>
                <a:spcPts val="0"/>
              </a:spcAft>
              <a:buSzPct val="100000"/>
              <a:buChar char="-"/>
            </a:pPr>
            <a:r>
              <a:rPr lang="en-US" sz="2000"/>
              <a:t>More attention to detail during development</a:t>
            </a:r>
            <a:endParaRPr sz="2000"/>
          </a:p>
          <a:p>
            <a:pPr indent="-346075" lvl="0" marL="1828800" rtl="0" algn="l">
              <a:lnSpc>
                <a:spcPct val="90000"/>
              </a:lnSpc>
              <a:spcBef>
                <a:spcPts val="0"/>
              </a:spcBef>
              <a:spcAft>
                <a:spcPts val="0"/>
              </a:spcAft>
              <a:buSzPct val="100000"/>
              <a:buChar char="-"/>
            </a:pPr>
            <a:r>
              <a:rPr lang="en-US" sz="2000"/>
              <a:t>Easier to audit</a:t>
            </a:r>
            <a:endParaRPr sz="2000"/>
          </a:p>
          <a:p>
            <a:pPr indent="0" lvl="0" marL="0" rtl="0" algn="l">
              <a:lnSpc>
                <a:spcPct val="90000"/>
              </a:lnSpc>
              <a:spcBef>
                <a:spcPts val="0"/>
              </a:spcBef>
              <a:spcAft>
                <a:spcPts val="0"/>
              </a:spcAft>
              <a:buNone/>
            </a:pPr>
            <a:r>
              <a:rPr lang="en-US" sz="2000"/>
              <a:t>		CONS:</a:t>
            </a:r>
            <a:endParaRPr sz="2000"/>
          </a:p>
          <a:p>
            <a:pPr indent="-346075" lvl="0" marL="1828800" rtl="0" algn="l">
              <a:lnSpc>
                <a:spcPct val="90000"/>
              </a:lnSpc>
              <a:spcBef>
                <a:spcPts val="0"/>
              </a:spcBef>
              <a:spcAft>
                <a:spcPts val="0"/>
              </a:spcAft>
              <a:buSzPct val="100000"/>
              <a:buChar char="-"/>
            </a:pPr>
            <a:r>
              <a:rPr lang="en-US" sz="2000"/>
              <a:t>No time to prepare</a:t>
            </a:r>
            <a:endParaRPr sz="2000"/>
          </a:p>
          <a:p>
            <a:pPr indent="-346075" lvl="0" marL="1828800" rtl="0" algn="l">
              <a:lnSpc>
                <a:spcPct val="90000"/>
              </a:lnSpc>
              <a:spcBef>
                <a:spcPts val="0"/>
              </a:spcBef>
              <a:spcAft>
                <a:spcPts val="0"/>
              </a:spcAft>
              <a:buSzPct val="100000"/>
              <a:buChar char="-"/>
            </a:pPr>
            <a:r>
              <a:rPr lang="en-US" sz="2000"/>
              <a:t>Lack of training on policy and standards</a:t>
            </a:r>
            <a:endParaRPr sz="2000"/>
          </a:p>
          <a:p>
            <a:pPr indent="-346075" lvl="0" marL="1828800" rtl="0" algn="l">
              <a:lnSpc>
                <a:spcPct val="90000"/>
              </a:lnSpc>
              <a:spcBef>
                <a:spcPts val="0"/>
              </a:spcBef>
              <a:spcAft>
                <a:spcPts val="0"/>
              </a:spcAft>
              <a:buSzPct val="100000"/>
              <a:buChar char="-"/>
            </a:pPr>
            <a:r>
              <a:rPr lang="en-US" sz="2000"/>
              <a:t>extra initial workload for staff</a:t>
            </a:r>
            <a:endParaRPr sz="2000"/>
          </a:p>
          <a:p>
            <a:pPr indent="-346075" lvl="0" marL="457200" rtl="0" algn="l">
              <a:lnSpc>
                <a:spcPct val="90000"/>
              </a:lnSpc>
              <a:spcBef>
                <a:spcPts val="0"/>
              </a:spcBef>
              <a:spcAft>
                <a:spcPts val="0"/>
              </a:spcAft>
              <a:buSzPct val="100000"/>
              <a:buChar char="●"/>
            </a:pPr>
            <a:r>
              <a:rPr lang="en-US" sz="2000"/>
              <a:t>The Slow Route(Wait)</a:t>
            </a:r>
            <a:endParaRPr sz="2000"/>
          </a:p>
          <a:p>
            <a:pPr indent="0" lvl="0" marL="0" rtl="0" algn="l">
              <a:lnSpc>
                <a:spcPct val="90000"/>
              </a:lnSpc>
              <a:spcBef>
                <a:spcPts val="0"/>
              </a:spcBef>
              <a:spcAft>
                <a:spcPts val="0"/>
              </a:spcAft>
              <a:buNone/>
            </a:pPr>
            <a:r>
              <a:rPr lang="en-US" sz="2000"/>
              <a:t>		PROS:</a:t>
            </a:r>
            <a:endParaRPr sz="2000"/>
          </a:p>
          <a:p>
            <a:pPr indent="-346075" lvl="0" marL="1828800" rtl="0" algn="l">
              <a:lnSpc>
                <a:spcPct val="90000"/>
              </a:lnSpc>
              <a:spcBef>
                <a:spcPts val="0"/>
              </a:spcBef>
              <a:spcAft>
                <a:spcPts val="0"/>
              </a:spcAft>
              <a:buSzPct val="100000"/>
              <a:buChar char="-"/>
            </a:pPr>
            <a:r>
              <a:rPr lang="en-US" sz="2000"/>
              <a:t>More time for preparation</a:t>
            </a:r>
            <a:endParaRPr sz="2000"/>
          </a:p>
          <a:p>
            <a:pPr indent="-346075" lvl="0" marL="1828800" rtl="0" algn="l">
              <a:lnSpc>
                <a:spcPct val="90000"/>
              </a:lnSpc>
              <a:spcBef>
                <a:spcPts val="0"/>
              </a:spcBef>
              <a:spcAft>
                <a:spcPts val="0"/>
              </a:spcAft>
              <a:buSzPct val="100000"/>
              <a:buChar char="-"/>
            </a:pPr>
            <a:r>
              <a:rPr lang="en-US" sz="2000"/>
              <a:t>Organization for team members</a:t>
            </a:r>
            <a:endParaRPr sz="2000"/>
          </a:p>
          <a:p>
            <a:pPr indent="-346075" lvl="0" marL="1828800" rtl="0" algn="l">
              <a:lnSpc>
                <a:spcPct val="90000"/>
              </a:lnSpc>
              <a:spcBef>
                <a:spcPts val="0"/>
              </a:spcBef>
              <a:spcAft>
                <a:spcPts val="0"/>
              </a:spcAft>
              <a:buSzPct val="100000"/>
              <a:buChar char="-"/>
            </a:pPr>
            <a:r>
              <a:rPr lang="en-US" sz="2000"/>
              <a:t>Better training</a:t>
            </a:r>
            <a:endParaRPr sz="2000"/>
          </a:p>
          <a:p>
            <a:pPr indent="0" lvl="0" marL="0" rtl="0" algn="l">
              <a:lnSpc>
                <a:spcPct val="90000"/>
              </a:lnSpc>
              <a:spcBef>
                <a:spcPts val="0"/>
              </a:spcBef>
              <a:spcAft>
                <a:spcPts val="0"/>
              </a:spcAft>
              <a:buNone/>
            </a:pPr>
            <a:r>
              <a:rPr lang="en-US" sz="2000"/>
              <a:t>		CONS:</a:t>
            </a:r>
            <a:endParaRPr sz="2000"/>
          </a:p>
          <a:p>
            <a:pPr indent="-346075" lvl="0" marL="1828800" rtl="0" algn="l">
              <a:lnSpc>
                <a:spcPct val="90000"/>
              </a:lnSpc>
              <a:spcBef>
                <a:spcPts val="0"/>
              </a:spcBef>
              <a:spcAft>
                <a:spcPts val="0"/>
              </a:spcAft>
              <a:buSzPct val="100000"/>
              <a:buChar char="-"/>
            </a:pPr>
            <a:r>
              <a:rPr lang="en-US" sz="2000"/>
              <a:t> Larger codebase to work on</a:t>
            </a:r>
            <a:endParaRPr sz="2000"/>
          </a:p>
          <a:p>
            <a:pPr indent="-346075" lvl="0" marL="1828800" rtl="0" algn="l">
              <a:lnSpc>
                <a:spcPct val="90000"/>
              </a:lnSpc>
              <a:spcBef>
                <a:spcPts val="0"/>
              </a:spcBef>
              <a:spcAft>
                <a:spcPts val="0"/>
              </a:spcAft>
              <a:buSzPct val="100000"/>
              <a:buChar char="-"/>
            </a:pPr>
            <a:r>
              <a:rPr lang="en-US" sz="2000"/>
              <a:t> More chance of errors</a:t>
            </a:r>
            <a:endParaRPr sz="2000"/>
          </a:p>
          <a:p>
            <a:pPr indent="-346075" lvl="0" marL="1828800" rtl="0" algn="l">
              <a:lnSpc>
                <a:spcPct val="90000"/>
              </a:lnSpc>
              <a:spcBef>
                <a:spcPts val="0"/>
              </a:spcBef>
              <a:spcAft>
                <a:spcPts val="0"/>
              </a:spcAft>
              <a:buSzPct val="100000"/>
              <a:buChar char="-"/>
            </a:pPr>
            <a:r>
              <a:rPr lang="en-US" sz="2000"/>
              <a:t>Essential rerun of entire dev process</a:t>
            </a:r>
            <a:endParaRPr sz="2000"/>
          </a:p>
          <a:p>
            <a:pPr indent="-346075" lvl="0" marL="1828800" rtl="0" algn="l">
              <a:lnSpc>
                <a:spcPct val="90000"/>
              </a:lnSpc>
              <a:spcBef>
                <a:spcPts val="0"/>
              </a:spcBef>
              <a:spcAft>
                <a:spcPts val="0"/>
              </a:spcAft>
              <a:buSzPct val="100000"/>
              <a:buChar char="-"/>
            </a:pPr>
            <a:r>
              <a:rPr lang="en-US" sz="2000"/>
              <a:t>Slow down of future projects</a:t>
            </a:r>
            <a:endParaRPr sz="2000"/>
          </a:p>
        </p:txBody>
      </p:sp>
      <p:pic>
        <p:nvPicPr>
          <p:cNvPr descr="Green Pace logo" id="277" name="Google Shape;277;p11"/>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2"/>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RECOMMENDATIONS</a:t>
            </a:r>
            <a:endParaRPr/>
          </a:p>
        </p:txBody>
      </p:sp>
      <p:sp>
        <p:nvSpPr>
          <p:cNvPr id="283" name="Google Shape;283;p12"/>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0" lvl="0" marL="1371600" rtl="0" algn="l">
              <a:lnSpc>
                <a:spcPct val="90000"/>
              </a:lnSpc>
              <a:spcBef>
                <a:spcPts val="0"/>
              </a:spcBef>
              <a:spcAft>
                <a:spcPts val="0"/>
              </a:spcAft>
              <a:buNone/>
            </a:pPr>
            <a:r>
              <a:rPr lang="en-US" sz="1800"/>
              <a:t>Protections Currently:</a:t>
            </a:r>
            <a:endParaRPr sz="1800"/>
          </a:p>
          <a:p>
            <a:pPr indent="-342900" lvl="1" marL="1828800" rtl="0" algn="l">
              <a:lnSpc>
                <a:spcPct val="90000"/>
              </a:lnSpc>
              <a:spcBef>
                <a:spcPts val="0"/>
              </a:spcBef>
              <a:spcAft>
                <a:spcPts val="0"/>
              </a:spcAft>
              <a:buSzPts val="1800"/>
              <a:buChar char="•"/>
            </a:pPr>
            <a:r>
              <a:rPr lang="en-US" sz="1800"/>
              <a:t>Container accessing</a:t>
            </a:r>
            <a:endParaRPr sz="1800"/>
          </a:p>
          <a:p>
            <a:pPr indent="-342900" lvl="1" marL="1828800" rtl="0" algn="l">
              <a:lnSpc>
                <a:spcPct val="90000"/>
              </a:lnSpc>
              <a:spcBef>
                <a:spcPts val="0"/>
              </a:spcBef>
              <a:spcAft>
                <a:spcPts val="0"/>
              </a:spcAft>
              <a:buSzPts val="1800"/>
              <a:buChar char="•"/>
            </a:pPr>
            <a:r>
              <a:rPr lang="en-US" sz="1800"/>
              <a:t>Some string protection(generation, madofication, spacial checking)</a:t>
            </a:r>
            <a:endParaRPr sz="1800"/>
          </a:p>
          <a:p>
            <a:pPr indent="-342900" lvl="1" marL="1828800" rtl="0" algn="l">
              <a:lnSpc>
                <a:spcPct val="90000"/>
              </a:lnSpc>
              <a:spcBef>
                <a:spcPts val="0"/>
              </a:spcBef>
              <a:spcAft>
                <a:spcPts val="0"/>
              </a:spcAft>
              <a:buSzPts val="1800"/>
              <a:buChar char="•"/>
            </a:pPr>
            <a:r>
              <a:rPr lang="en-US" sz="1800"/>
              <a:t>Input protection</a:t>
            </a:r>
            <a:endParaRPr sz="1800"/>
          </a:p>
          <a:p>
            <a:pPr indent="-342900" lvl="1" marL="1828800" rtl="0" algn="l">
              <a:lnSpc>
                <a:spcPct val="90000"/>
              </a:lnSpc>
              <a:spcBef>
                <a:spcPts val="0"/>
              </a:spcBef>
              <a:spcAft>
                <a:spcPts val="0"/>
              </a:spcAft>
              <a:buSzPts val="1800"/>
              <a:buChar char="•"/>
            </a:pPr>
            <a:r>
              <a:rPr lang="en-US" sz="1800"/>
              <a:t>Memory control</a:t>
            </a:r>
            <a:endParaRPr sz="1800"/>
          </a:p>
          <a:p>
            <a:pPr indent="-342900" lvl="1" marL="1828800" rtl="0" algn="l">
              <a:lnSpc>
                <a:spcPct val="90000"/>
              </a:lnSpc>
              <a:spcBef>
                <a:spcPts val="0"/>
              </a:spcBef>
              <a:spcAft>
                <a:spcPts val="0"/>
              </a:spcAft>
              <a:buSzPts val="1800"/>
              <a:buChar char="•"/>
            </a:pPr>
            <a:r>
              <a:rPr lang="en-US" sz="1800"/>
              <a:t>Assertion in testing &amp; exception handling</a:t>
            </a:r>
            <a:endParaRPr sz="1800"/>
          </a:p>
          <a:p>
            <a:pPr indent="-342900" lvl="1" marL="1828800" rtl="0" algn="l">
              <a:lnSpc>
                <a:spcPct val="90000"/>
              </a:lnSpc>
              <a:spcBef>
                <a:spcPts val="0"/>
              </a:spcBef>
              <a:spcAft>
                <a:spcPts val="0"/>
              </a:spcAft>
              <a:buSzPts val="1800"/>
              <a:buChar char="•"/>
            </a:pPr>
            <a:r>
              <a:rPr lang="en-US" sz="1800"/>
              <a:t>Program termination &amp; file control</a:t>
            </a:r>
            <a:endParaRPr sz="1800"/>
          </a:p>
          <a:p>
            <a:pPr indent="0" lvl="0" marL="0" rtl="0" algn="l">
              <a:lnSpc>
                <a:spcPct val="90000"/>
              </a:lnSpc>
              <a:spcBef>
                <a:spcPts val="0"/>
              </a:spcBef>
              <a:spcAft>
                <a:spcPts val="0"/>
              </a:spcAft>
              <a:buNone/>
            </a:pPr>
            <a:r>
              <a:rPr lang="en-US" sz="1800"/>
              <a:t>			What more can we do??</a:t>
            </a:r>
            <a:endParaRPr sz="1800"/>
          </a:p>
          <a:p>
            <a:pPr indent="-342900" lvl="0" marL="1828800" rtl="0" algn="l">
              <a:lnSpc>
                <a:spcPct val="90000"/>
              </a:lnSpc>
              <a:spcBef>
                <a:spcPts val="0"/>
              </a:spcBef>
              <a:spcAft>
                <a:spcPts val="0"/>
              </a:spcAft>
              <a:buSzPts val="1800"/>
              <a:buChar char="•"/>
            </a:pPr>
            <a:r>
              <a:rPr lang="en-US" sz="1800"/>
              <a:t>Enforce the current policy</a:t>
            </a:r>
            <a:endParaRPr sz="1800"/>
          </a:p>
          <a:p>
            <a:pPr indent="-342900" lvl="0" marL="1828800" rtl="0" algn="l">
              <a:lnSpc>
                <a:spcPct val="90000"/>
              </a:lnSpc>
              <a:spcBef>
                <a:spcPts val="0"/>
              </a:spcBef>
              <a:spcAft>
                <a:spcPts val="0"/>
              </a:spcAft>
              <a:buSzPts val="1800"/>
              <a:buChar char="•"/>
            </a:pPr>
            <a:r>
              <a:rPr lang="en-US" sz="1800"/>
              <a:t>Hold periodic meetings for new improvements</a:t>
            </a:r>
            <a:endParaRPr sz="1800"/>
          </a:p>
          <a:p>
            <a:pPr indent="0" lvl="0" marL="0" rtl="0" algn="l">
              <a:lnSpc>
                <a:spcPct val="90000"/>
              </a:lnSpc>
              <a:spcBef>
                <a:spcPts val="0"/>
              </a:spcBef>
              <a:spcAft>
                <a:spcPts val="0"/>
              </a:spcAft>
              <a:buNone/>
            </a:pPr>
            <a:r>
              <a:t/>
            </a:r>
            <a:endParaRPr sz="1800"/>
          </a:p>
          <a:p>
            <a:pPr indent="0" lvl="0" marL="0" rtl="0" algn="l">
              <a:lnSpc>
                <a:spcPct val="90000"/>
              </a:lnSpc>
              <a:spcBef>
                <a:spcPts val="0"/>
              </a:spcBef>
              <a:spcAft>
                <a:spcPts val="0"/>
              </a:spcAft>
              <a:buNone/>
            </a:pPr>
            <a:r>
              <a:t/>
            </a:r>
            <a:endParaRPr sz="1800"/>
          </a:p>
          <a:p>
            <a:pPr indent="0" lvl="0" marL="0" rtl="0" algn="l">
              <a:lnSpc>
                <a:spcPct val="90000"/>
              </a:lnSpc>
              <a:spcBef>
                <a:spcPts val="0"/>
              </a:spcBef>
              <a:spcAft>
                <a:spcPts val="0"/>
              </a:spcAft>
              <a:buNone/>
            </a:pPr>
            <a:r>
              <a:rPr lang="en-US" sz="1800"/>
              <a:t>The recommendations listed are not </a:t>
            </a:r>
            <a:r>
              <a:rPr lang="en-US" sz="1800"/>
              <a:t>exhaustive</a:t>
            </a:r>
            <a:r>
              <a:rPr lang="en-US" sz="1800"/>
              <a:t> by any means but this is by design. We will slowly implement more standards and scope to this policy over time to reduce information overload for our employees.</a:t>
            </a:r>
            <a:endParaRPr sz="1800"/>
          </a:p>
        </p:txBody>
      </p:sp>
      <p:pic>
        <p:nvPicPr>
          <p:cNvPr descr="Green Pace logo" id="284" name="Google Shape;284;p12"/>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3"/>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CONCLUSIONS</a:t>
            </a:r>
            <a:endParaRPr/>
          </a:p>
        </p:txBody>
      </p:sp>
      <p:sp>
        <p:nvSpPr>
          <p:cNvPr id="290" name="Google Shape;290;p13"/>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p>
            <a:pPr indent="0" lvl="0" marL="457200" rtl="0" algn="l">
              <a:lnSpc>
                <a:spcPct val="90000"/>
              </a:lnSpc>
              <a:spcBef>
                <a:spcPts val="0"/>
              </a:spcBef>
              <a:spcAft>
                <a:spcPts val="0"/>
              </a:spcAft>
              <a:buNone/>
            </a:pPr>
            <a:r>
              <a:t/>
            </a:r>
            <a:endParaRPr sz="1800"/>
          </a:p>
          <a:p>
            <a:pPr indent="-381000" lvl="0" marL="457200" rtl="0" algn="l">
              <a:spcBef>
                <a:spcPts val="0"/>
              </a:spcBef>
              <a:spcAft>
                <a:spcPts val="0"/>
              </a:spcAft>
              <a:buSzPts val="2400"/>
              <a:buChar char="•"/>
            </a:pPr>
            <a:r>
              <a:rPr lang="en-US" sz="2400"/>
              <a:t>Incorporate DCL-58-CPP (Namespace modifications)</a:t>
            </a:r>
            <a:endParaRPr sz="2400"/>
          </a:p>
          <a:p>
            <a:pPr indent="-381000" lvl="0" marL="457200" rtl="0" algn="l">
              <a:spcBef>
                <a:spcPts val="0"/>
              </a:spcBef>
              <a:spcAft>
                <a:spcPts val="0"/>
              </a:spcAft>
              <a:buSzPts val="2400"/>
              <a:buChar char="•"/>
            </a:pPr>
            <a:r>
              <a:rPr lang="en-US" sz="2400"/>
              <a:t>No integer standards, include INT-30-C (Unsigned integer operations)</a:t>
            </a:r>
            <a:endParaRPr sz="2400"/>
          </a:p>
          <a:p>
            <a:pPr indent="-381000" lvl="0" marL="457200" rtl="0" algn="l">
              <a:spcBef>
                <a:spcPts val="0"/>
              </a:spcBef>
              <a:spcAft>
                <a:spcPts val="0"/>
              </a:spcAft>
              <a:buSzPts val="2400"/>
              <a:buChar char="•"/>
            </a:pPr>
            <a:r>
              <a:rPr lang="en-US" sz="2400"/>
              <a:t>MSC-41-C (Never hardcode sensitive information)</a:t>
            </a:r>
            <a:endParaRPr sz="2400"/>
          </a:p>
          <a:p>
            <a:pPr indent="-88900" lvl="0" marL="228600" rtl="0" algn="l">
              <a:lnSpc>
                <a:spcPct val="90000"/>
              </a:lnSpc>
              <a:spcBef>
                <a:spcPts val="1000"/>
              </a:spcBef>
              <a:spcAft>
                <a:spcPts val="0"/>
              </a:spcAft>
              <a:buClr>
                <a:schemeClr val="lt1"/>
              </a:buClr>
              <a:buSzPts val="2200"/>
              <a:buNone/>
            </a:pPr>
            <a:r>
              <a:t/>
            </a:r>
            <a:endParaRPr/>
          </a:p>
        </p:txBody>
      </p:sp>
      <p:pic>
        <p:nvPicPr>
          <p:cNvPr descr="Green Pace logo" id="291" name="Google Shape;291;p13"/>
          <p:cNvPicPr preferRelativeResize="0"/>
          <p:nvPr/>
        </p:nvPicPr>
        <p:blipFill rotWithShape="1">
          <a:blip r:embed="rId3">
            <a:alphaModFix/>
          </a:blip>
          <a:srcRect b="0" l="0" r="0" t="0"/>
          <a:stretch/>
        </p:blipFill>
        <p:spPr>
          <a:xfrm>
            <a:off x="11084074" y="5440526"/>
            <a:ext cx="886601" cy="11492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4"/>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4000"/>
              <a:buFont typeface="Century Gothic"/>
              <a:buNone/>
            </a:pPr>
            <a:r>
              <a:rPr lang="en-US"/>
              <a:t>REFERENCES</a:t>
            </a:r>
            <a:endParaRPr/>
          </a:p>
        </p:txBody>
      </p:sp>
      <p:sp>
        <p:nvSpPr>
          <p:cNvPr id="297" name="Google Shape;297;p14"/>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lnSpcReduction="20000"/>
          </a:bodyPr>
          <a:lstStyle/>
          <a:p>
            <a:pPr indent="-444500" lvl="0" marL="457200" rtl="0" algn="l">
              <a:lnSpc>
                <a:spcPct val="200000"/>
              </a:lnSpc>
              <a:spcBef>
                <a:spcPts val="0"/>
              </a:spcBef>
              <a:spcAft>
                <a:spcPts val="0"/>
              </a:spcAft>
              <a:buSzPts val="3400"/>
              <a:buChar char="•"/>
            </a:pPr>
            <a:r>
              <a:rPr i="1" lang="en-US" sz="1800">
                <a:latin typeface="Times New Roman"/>
                <a:ea typeface="Times New Roman"/>
                <a:cs typeface="Times New Roman"/>
                <a:sym typeface="Times New Roman"/>
              </a:rPr>
              <a:t>SEI CERT C++ Coding Standard | CERT Secure Coding</a:t>
            </a:r>
            <a:r>
              <a:rPr lang="en-US" sz="1800">
                <a:latin typeface="Times New Roman"/>
                <a:ea typeface="Times New Roman"/>
                <a:cs typeface="Times New Roman"/>
                <a:sym typeface="Times New Roman"/>
              </a:rPr>
              <a:t>. (n.d.). </a:t>
            </a:r>
            <a:r>
              <a:rPr lang="en-US" sz="1800" u="sng">
                <a:solidFill>
                  <a:schemeClr val="hlink"/>
                </a:solidFill>
                <a:latin typeface="Times New Roman"/>
                <a:ea typeface="Times New Roman"/>
                <a:cs typeface="Times New Roman"/>
                <a:sym typeface="Times New Roman"/>
                <a:hlinkClick r:id="rId3"/>
              </a:rPr>
              <a:t>https://cmu-sei.github.io/secure-coding-standards/sei-cert-cpp-coding-standard/</a:t>
            </a:r>
            <a:endParaRPr i="1" sz="2400">
              <a:latin typeface="Times New Roman"/>
              <a:ea typeface="Times New Roman"/>
              <a:cs typeface="Times New Roman"/>
              <a:sym typeface="Times New Roman"/>
            </a:endParaRPr>
          </a:p>
          <a:p>
            <a:pPr indent="-406400" lvl="0" marL="457200" rtl="0" algn="l">
              <a:lnSpc>
                <a:spcPct val="200000"/>
              </a:lnSpc>
              <a:spcBef>
                <a:spcPts val="0"/>
              </a:spcBef>
              <a:spcAft>
                <a:spcPts val="0"/>
              </a:spcAft>
              <a:buSzPts val="2800"/>
              <a:buChar char="•"/>
            </a:pPr>
            <a:r>
              <a:rPr i="1" lang="en-US" sz="1800">
                <a:latin typeface="Times New Roman"/>
                <a:ea typeface="Times New Roman"/>
                <a:cs typeface="Times New Roman"/>
                <a:sym typeface="Times New Roman"/>
              </a:rPr>
              <a:t>Redirect notice</a:t>
            </a:r>
            <a:r>
              <a:rPr lang="en-US" sz="1800">
                <a:latin typeface="Times New Roman"/>
                <a:ea typeface="Times New Roman"/>
                <a:cs typeface="Times New Roman"/>
                <a:sym typeface="Times New Roman"/>
              </a:rPr>
              <a:t>. (n.d.). https://www.google.com/url?sa=t&amp;source=web&amp;rct=j&amp;url=https%3A%2F%2Fscreenrant.com%2Fstar-wars-revenge-sith-anakin-skywalker-yellow-eyes-why%2F&amp;ved=0CBkQjhxqFwoTCKDat-uappYDFQAAAAAdAAAAABAJ&amp;opi=89978449</a:t>
            </a:r>
            <a:endParaRPr sz="1800">
              <a:latin typeface="Times New Roman"/>
              <a:ea typeface="Times New Roman"/>
              <a:cs typeface="Times New Roman"/>
              <a:sym typeface="Times New Roman"/>
            </a:endParaRPr>
          </a:p>
          <a:p>
            <a:pPr indent="0" lvl="0" marL="457200" rtl="0" algn="l">
              <a:lnSpc>
                <a:spcPct val="90000"/>
              </a:lnSpc>
              <a:spcBef>
                <a:spcPts val="0"/>
              </a:spcBef>
              <a:spcAft>
                <a:spcPts val="0"/>
              </a:spcAft>
              <a:buNone/>
            </a:pPr>
            <a:r>
              <a:t/>
            </a:r>
            <a:endParaRPr/>
          </a:p>
        </p:txBody>
      </p:sp>
      <p:pic>
        <p:nvPicPr>
          <p:cNvPr descr="Green Pace logo" id="298" name="Google Shape;298;p14"/>
          <p:cNvPicPr preferRelativeResize="0"/>
          <p:nvPr/>
        </p:nvPicPr>
        <p:blipFill rotWithShape="1">
          <a:blip r:embed="rId4">
            <a:alphaModFix/>
          </a:blip>
          <a:srcRect b="0" l="0" r="0" t="0"/>
          <a:stretch/>
        </p:blipFill>
        <p:spPr>
          <a:xfrm>
            <a:off x="11084074" y="5440526"/>
            <a:ext cx="886601" cy="1149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2020-08-19T17:59:24Z</dcterms:created>
  <dc:creator>Kathy Shields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